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MLOps in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Introduction &amp; Career Landscape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What is MLOps?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95959"/>
                </a:solidFill>
              </a:defRPr>
            </a:pPr>
            <a:r>
              <a:t>Machine Learning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95959"/>
                </a:solidFill>
              </a:defRPr>
            </a:pPr>
            <a:r>
              <a:t>The discipline of managing ML systems from development to production to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472C4"/>
                </a:solidFill>
              </a:defRPr>
            </a:pPr>
            <a:r>
              <a:t>In simple terms: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95959"/>
                </a:solidFill>
              </a:defRPr>
            </a:pPr>
            <a:r>
              <a:t>• ML model is just 5% of a production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95959"/>
                </a:solidFill>
              </a:defRPr>
            </a:pPr>
            <a:r>
              <a:t>• Other 95%: data pipelines, infrastructure, monitoring, serving,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95959"/>
                </a:solidFill>
              </a:defRPr>
            </a:pPr>
            <a:r>
              <a:t>• MLOps bridges the gap between Data Science and DevOps/SRE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ML Development vs MLOps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ML Development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MLOps Focus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Notebook experiments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Production pipelines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Model accuracy metrics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Latency, throughput, cost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Train once, deploy manually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Continuous training &amp; deployment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Single model version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Multiple versions, A/B testing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Manual monitoring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Automated monitoring &amp; alerting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Why MLOps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472C4"/>
                </a:solidFill>
              </a:defRPr>
            </a:pPr>
            <a:r>
              <a:t>• 80% of ML projects fail in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Models degrade, data changes, systems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472C4"/>
                </a:solidFill>
              </a:defRPr>
            </a:pPr>
            <a:r>
              <a:t>• Hidden technical debt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Reproducibility, governance, scalability issues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472C4"/>
                </a:solidFill>
              </a:defRPr>
            </a:pPr>
            <a:r>
              <a:t>• Business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Slow deployment = lost revenue, bad models = brand damage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472C4"/>
                </a:solidFill>
              </a:defRPr>
            </a:pPr>
            <a:r>
              <a:t>• Team 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Automation saves months of manual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The ML Lifecycle (Simplified View)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280160" cy="548640"/>
          </a:xfrm>
          <a:prstGeom prst="rect">
            <a:avLst/>
          </a:prstGeom>
          <a:solidFill>
            <a:srgbClr val="4472C4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57400" y="2011680"/>
            <a:ext cx="182880" cy="182880"/>
          </a:xfrm>
          <a:prstGeom prst="round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40280" y="1828800"/>
            <a:ext cx="1280160" cy="548640"/>
          </a:xfrm>
          <a:prstGeom prst="rect">
            <a:avLst/>
          </a:prstGeom>
          <a:solidFill>
            <a:srgbClr val="ED7D31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011680"/>
            <a:ext cx="182880" cy="182880"/>
          </a:xfrm>
          <a:prstGeom prst="round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49039" y="1828800"/>
            <a:ext cx="1280160" cy="548640"/>
          </a:xfrm>
          <a:prstGeom prst="rect">
            <a:avLst/>
          </a:prstGeom>
          <a:solidFill>
            <a:srgbClr val="4472C4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Train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2011680"/>
            <a:ext cx="182880" cy="182880"/>
          </a:xfrm>
          <a:prstGeom prst="round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57800" y="1828800"/>
            <a:ext cx="1280160" cy="548640"/>
          </a:xfrm>
          <a:prstGeom prst="rect">
            <a:avLst/>
          </a:prstGeom>
          <a:solidFill>
            <a:srgbClr val="ED7D31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Deploy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011680"/>
            <a:ext cx="182880" cy="182880"/>
          </a:xfrm>
          <a:prstGeom prst="round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0" y="1828800"/>
            <a:ext cx="1280160" cy="548640"/>
          </a:xfrm>
          <a:prstGeom prst="rect">
            <a:avLst/>
          </a:prstGeom>
          <a:solidFill>
            <a:srgbClr val="4472C4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Monitor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011680"/>
            <a:ext cx="182880" cy="182880"/>
          </a:xfrm>
          <a:prstGeom prst="round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828800"/>
            <a:ext cx="1280160" cy="548640"/>
          </a:xfrm>
          <a:prstGeom prst="rect">
            <a:avLst/>
          </a:prstGeom>
          <a:solidFill>
            <a:srgbClr val="ED7D31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Retrain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51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472C4"/>
                </a:solidFill>
              </a:defRPr>
            </a:pPr>
            <a:r>
              <a:t>Feedback Loop 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95959"/>
                </a:solidFill>
              </a:defRPr>
            </a:pPr>
            <a:r>
              <a:t>MLOps automates and monitors every step. Nothing is manual.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Real Production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D7D31"/>
                </a:solidFill>
              </a:defRPr>
            </a:pPr>
            <a:r>
              <a:t>A Model Works Great in Dev, Fails in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⚠ Data drift: Production data looks different from training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⚠ Feature mismatch: Features calculated differently in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⚠ Model latency: Takes 10 seconds per prediction (too slow)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⚠ No monitoring: Nobody notices the model is broken for 3 weeks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⚠ Can't rollback: Previous model version is lost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 i="1">
                <a:solidFill>
                  <a:srgbClr val="4472C4"/>
                </a:solidFill>
              </a:defRPr>
            </a:pPr>
            <a:r>
              <a:t>This is where MLOps comes 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MLOps Career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472C4"/>
                </a:solidFill>
              </a:defRPr>
            </a:pPr>
            <a:r>
              <a:t>Who Needs MLOps Skills?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• ML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8288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- Builds and deploys ML models at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• MLOps Engineer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3317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- Builds infrastructure &amp; pipelines for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3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• Data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834639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- Needs to understand ML-specific data concerns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3755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• DevOps/SRE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337559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- Increasingly includes ML system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047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• Data Scientist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840479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- Required to understand production constraints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Three Career Paths into MLOps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solidFill>
            <a:srgbClr val="4472C4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From Data Science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Data Scientist → ML Engineer → MLOps Engineer | Model expertise + Production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7680960" cy="822960"/>
          </a:xfrm>
          <a:prstGeom prst="rect">
            <a:avLst/>
          </a:prstGeom>
          <a:solidFill>
            <a:srgbClr val="ED7D31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From Software Engineering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Backend Engineer → DevOps → MLOps Engineer | System design + ML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383280"/>
            <a:ext cx="7680960" cy="822960"/>
          </a:xfrm>
          <a:prstGeom prst="rect">
            <a:avLst/>
          </a:prstGeom>
          <a:solidFill>
            <a:srgbClr val="2E5090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From Data Engineering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Data Engineer → ML Platform Engineer → MLOps | Pipelines + ML-specific concerns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MLOps Job 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472C4"/>
                </a:solidFill>
              </a:defRPr>
            </a:pPr>
            <a:r>
              <a:t>Market Demand (2024)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95959"/>
                </a:solidFill>
              </a:defRPr>
            </a:pPr>
            <a:r>
              <a:t>MLOps roles are one of the fastest-growing in 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• MLOps Engineer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286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$150K-$220K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2860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D7D31"/>
                </a:solidFill>
              </a:defRPr>
            </a:pPr>
            <a:r>
              <a:t>⭐⭐⭐⭐⭐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• ML Platform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834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$140K-$200K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83464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D7D31"/>
                </a:solidFill>
              </a:defRPr>
            </a:pPr>
            <a:r>
              <a:t>⭐⭐⭐⭐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• ML Infrastructure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3832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$130K-$190K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3832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D7D31"/>
                </a:solidFill>
              </a:defRPr>
            </a:pPr>
            <a:r>
              <a:t>⭐⭐⭐⭐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Skills You'll 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9164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Docker, Kubernetes, Cloud platforms (AWS/Azure/GCP), Infrastructure-as-Code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Data Pipelines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46888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Data versioning (DVC), Workflow orchestration (Airflow), Feature stores, Data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ML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4612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Model serving, Experiment tracking, Model monitoring, A/B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023359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Monitoring &amp; alerts, Logging, CI/CD pipelines, Incident response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What We're NOT Doing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D7D31"/>
                </a:solidFill>
              </a:defRPr>
            </a:pPr>
            <a:r>
              <a:t>Not a Step-by-Step Recipe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❌ "Follow steps 1-2-3 to deploy a model"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❌ Copy-paste scripts without understanding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❌ Tool tutorials (there are 1000 YouTube videos)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❌ One-size-fits-all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472C4"/>
                </a:solidFill>
              </a:defRPr>
            </a:pPr>
            <a:r>
              <a:t>Instead, We Focus 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472C4"/>
                </a:solidFill>
              </a:defRPr>
            </a:pPr>
            <a:r>
              <a:t>✓ Principles: Why things work this 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472C4"/>
                </a:solidFill>
              </a:defRPr>
            </a:pPr>
            <a:r>
              <a:t>✓ Architecture: How systems are designed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472C4"/>
                </a:solidFill>
              </a:defRPr>
            </a:pPr>
            <a:r>
              <a:t>✓ Trade-offs: When to use what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472C4"/>
                </a:solidFill>
              </a:defRPr>
            </a:pPr>
            <a:r>
              <a:t>✓ Real problems: What breaks in production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This Course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2286000"/>
          </a:xfrm>
          <a:prstGeom prst="rect">
            <a:avLst/>
          </a:prstGeom>
          <a:solidFill>
            <a:srgbClr val="4472C4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Foundations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Weeks 1-4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371600"/>
            <a:ext cx="1828800" cy="2286000"/>
          </a:xfrm>
          <a:prstGeom prst="rect">
            <a:avLst/>
          </a:prstGeom>
          <a:solidFill>
            <a:srgbClr val="ED7D31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Model Dev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Weeks 5-8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1828800" cy="2286000"/>
          </a:xfrm>
          <a:prstGeom prst="rect">
            <a:avLst/>
          </a:prstGeom>
          <a:solidFill>
            <a:srgbClr val="2E5090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Deployment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Weeks 9-12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371600"/>
            <a:ext cx="1828800" cy="2286000"/>
          </a:xfrm>
          <a:prstGeom prst="rect">
            <a:avLst/>
          </a:prstGeom>
          <a:solidFill>
            <a:srgbClr val="4472C4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4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Operations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Weeks 13-16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Today: What We're Demoing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95959"/>
                </a:solidFill>
              </a:defRPr>
            </a:pPr>
            <a:r>
              <a:t>Not building everything from scratch (too long)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472C4"/>
                </a:solidFill>
              </a:defRPr>
            </a:pPr>
            <a:r>
              <a:t>A Real MLOps System In Action: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1. Model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2860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Watch how experiments are tracked &amp; compared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2. Docker Container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8346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Package model for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3.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3832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Push to cloud, create endpoint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4. Live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9319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Call the model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8055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5.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480559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See what breaks &amp; how we detect 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What You'll Understand After This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536192"/>
            <a:ext cx="137160" cy="13716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Why MLOps exists and what problems it solves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30552"/>
            <a:ext cx="137160" cy="13716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How ML systems differ from traditional software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724912"/>
            <a:ext cx="137160" cy="13716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6517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Key components of a production ML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319272"/>
            <a:ext cx="137160" cy="13716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24612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Common pitfalls and how to avoid them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913632"/>
            <a:ext cx="137160" cy="13716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84048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Career opportunities in MLOps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Let's build production ML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FFFFFF"/>
                </a:solidFill>
              </a:defRPr>
            </a:pPr>
            <a:r>
              <a:t>Next: We'll see a real MLOps system in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