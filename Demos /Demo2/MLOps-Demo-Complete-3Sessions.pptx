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MLOps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Introduction &amp; Career Landscape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What is MLOps?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t>Machine Learning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The discipline of managing ML systems from development to production to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In simple terms: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• ML model is just 5% of a production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• Other 95%: data pipelines, infrastructure, monitoring, serving,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• MLOps bridges the gap between Data Science and DevOps/SRE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ML Development vs MLOps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ML Development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MLOps Focus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Notebook experiments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Production pipelines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Model accuracy metrics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Latency, throughput, cost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Train once, deploy manually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Continuous training &amp; deployment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Single model version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Multiple versions, A/B testing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Manual monitoring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Automated monitoring &amp; alerting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Why MLOps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80% of ML projects fail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Models degrade, data changes, systems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Hidden technical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Reproducibility, governance, scalability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Slow deployment = lost revenue, bad models = brand damage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• Team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Automation saves months of manual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The ML Lifecycle (Simplified 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280160" cy="54864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1828800"/>
            <a:ext cx="1280160" cy="54864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828800"/>
            <a:ext cx="1280160" cy="54864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1828800"/>
            <a:ext cx="1280160" cy="54864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28800"/>
            <a:ext cx="1280160" cy="548640"/>
          </a:xfrm>
          <a:prstGeom prst="rect">
            <a:avLst/>
          </a:prstGeom>
          <a:solidFill>
            <a:srgbClr val="4472C4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828800"/>
            <a:ext cx="1280160" cy="548640"/>
          </a:xfrm>
          <a:prstGeom prst="rect">
            <a:avLst/>
          </a:prstGeom>
          <a:solidFill>
            <a:srgbClr val="ED7D31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72C4"/>
                </a:solidFill>
              </a:defRPr>
            </a:pPr>
            <a:r>
              <a:t>Feedback Loop 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95959"/>
                </a:solidFill>
              </a:defRPr>
            </a:pPr>
            <a:r>
              <a:t>MLOps automates and monitors every step. Nothing is manual.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Real Production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A Model Works Great in Dev, Fails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Data drift: Production data looks different from 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Feature mismatch: Features calculated differently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Model latency: Takes 10 seconds per prediction (too slow)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No monitoring: Nobody notices the model is broken for 3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⚠ Can't rollback: Previous model version is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>
                <a:solidFill>
                  <a:srgbClr val="4472C4"/>
                </a:solidFill>
              </a:defRPr>
            </a:pPr>
            <a:r>
              <a:t>This is where MLOps comes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Course Delivery: 3-Session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4472C4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Session 1: Introduction &amp; Career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Today | Why MLOps, who needs it, career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Session 2: Technologies &amp; Frameworks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Next | Tools, frameworks, architecture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7680960" cy="1097280"/>
          </a:xfrm>
          <a:prstGeom prst="rect">
            <a:avLst/>
          </a:prstGeom>
          <a:solidFill>
            <a:srgbClr val="46AC52"/>
          </a:solidFill>
          <a:ln w="25400">
            <a:solidFill>
              <a:srgbClr val="46A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Session 3: Environment Setup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After | Install, configure, hands-on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2: Key Technologies &amp;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Focus: What tools &amp; frameworks power MLOps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Data Processing &amp; Versioning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Experiment Tracking &amp; Model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Model Training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Feature Engineering &amp;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Container &amp; Orchestration (Docker, Kubernetes)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Model Serving Frameworks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▸ Monitoring &amp; Observability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2: Data Processing &amp; Versioning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Data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DVC (Data Version Control), Git LFS, Delta Lake, Apache Iceberg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Processing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Apache Spark, Pandas, Polars, Dask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Data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Great Expectations, Pydantic, Pandera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2: Experiment Tracking &amp;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Experiment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MLflow, Weights &amp; Biases (W&amp;B), Neptune, Langfuse, Comet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Model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MLflow Model Registry, W&amp;B Model Registry, Hugging Face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Training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TensorFlow, PyTorch, scikit-learn, XGBoost, LightGBM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2: Infrastructure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Docker, Podman, Singularity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Kubernetes (K8s), Helm, KubeFlow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Workflow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Apache Airflow, Prefect, Dagster, Argo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Model Serving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03320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FastAPI, Flask, TensorFlow Serving, Ray Serve, BentoML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2: Monitoring &amp; Cloud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Prometheus, Grafana, ELK Stack, Datadog, Evidently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Loki, Splunk, CloudWatch, Stack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Cloud ML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9475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AWS SageMaker, Azure ML, GCP Vertex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3: Environment Setup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Focus: Get everything installed and configured for hands-on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1. System &amp; OS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2. Python environment (conda/venv/Poetry)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3. Docker installation &amp; basic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4. Git and version control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5. Cloud CLI tools (AWS, Azure, GCP)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6. Setting up first experiment tracking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7. Verifying all tools work together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3: Local Development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What You'll Install &amp; Configure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Runtime: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Python 3.10+, Node.js (for tools)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Package Management: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pip, conda, or Poetry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Containerization: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43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Docker Desktop (local testing)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Version Control: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004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Git + GitHub/GitLab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IDE/Editor: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657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VS Code, PyCharm, or preferred 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Experiment Tracking: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148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MLflow local 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Cloud Tools: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720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AWS CLI, Azure CLI, Google Cloud SDK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3: System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Minimum Hardware &amp;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OS: Linux, macOS, or Windows (WSL2 recommended)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RAM: 8GB minimum (16GB 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Storage: 50GB free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5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CPU: Multi-core processor (4+ cores)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Internet: Stable connection for downloading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472C4"/>
                </a:solidFill>
              </a:defRPr>
            </a:pPr>
            <a:r>
              <a:t>Optional but Recommended: GPU support (CUDA/ROCm) for faster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Session 3: Step-by-Step Setup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1. Verify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Check OS, RAM, storage,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2. Install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Python 3.10+ with package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3. Create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mkdir ~/mlops-workspace, cd there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4. Setup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conda/venv with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5. Install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17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Docker Desktop, verify docker run hello-world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6. Git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29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git config, SSH keys, clone test 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7. Cloud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40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Install AWS/Azure/GCP CLI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8. Test Everything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51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Run diagnostic script, verify all tools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After Session 3: Your MLOps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Ready to Start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Local Python environment with all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Docker installed and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MLflow running locally for experiment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Git repo configured and synced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Cloud CLI tools authenticated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IDE configured with proper 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Diagnostic script confirming all tools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1">
                <a:solidFill>
                  <a:srgbClr val="46AC52"/>
                </a:solidFill>
              </a:defRPr>
            </a:pPr>
            <a:r>
              <a:t>From Week 4 onwards: Full hands-on labs, real MLOps projects, and production patterns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Complete Training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16 Weeks: From Theory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solidFill>
            <a:srgbClr val="E6F0FA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Weeks 1-4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Foundations (Data, infrastructure, basics)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solidFill>
            <a:srgbClr val="E6F0FA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Weeks 5-8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Model Development (Experiments, features, training)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39"/>
            <a:ext cx="7315200" cy="640080"/>
          </a:xfrm>
          <a:prstGeom prst="rect">
            <a:avLst/>
          </a:prstGeom>
          <a:solidFill>
            <a:srgbClr val="E6F0FA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Weeks 9-12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Deployment (Docker, K8s, serving, A/B testing)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7315200" cy="640080"/>
          </a:xfrm>
          <a:prstGeom prst="rect">
            <a:avLst/>
          </a:prstGeom>
          <a:solidFill>
            <a:srgbClr val="E6F0FA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Weeks 13-16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Operations (Monitoring, drift, incidents, capstone)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Before Next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Preparation for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📋 Review the 16-week training plan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📚 Read: "Designing Machine Learning Systems" (Chapters 1-2)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🔗 Bookmark the tools we'll cover (links provided)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❓ Write down 3 questions you have about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💻 No setup needed yet - we cover that in Session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Session 2: Technologies &amp; Frameworks | Session 3: Environment 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