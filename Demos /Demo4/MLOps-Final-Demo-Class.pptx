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3" r:id="rId18"/>
    <p:sldId id="281" r:id="rId19"/>
    <p:sldId id="275" r:id="rId20"/>
    <p:sldId id="276" r:id="rId21"/>
    <p:sldId id="277" r:id="rId22"/>
    <p:sldId id="279" r:id="rId23"/>
    <p:sldId id="278" r:id="rId24"/>
    <p:sldId id="274" r:id="rId2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597E04D-F23F-484D-BED1-69851607DFE7}" v="139" dt="2026-10-10T16:54:54.893"/>
    <p1510:client id="{AAC0EF31-87E9-44AE-A9B7-3657D0EDBB51}" v="1507" dt="2026-10-11T06:06:22.49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642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-1"/>
            <a:ext cx="9144001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524784" y="248038"/>
            <a:ext cx="8032612" cy="7762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4800" b="1">
                <a:solidFill>
                  <a:srgbClr val="FFFFFF"/>
                </a:solidFill>
              </a:defRPr>
            </a:pPr>
            <a:r>
              <a:rPr lang="en-US" sz="35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Your </a:t>
            </a:r>
            <a:r>
              <a:rPr lang="en-US" sz="35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MLOps</a:t>
            </a:r>
            <a:r>
              <a:rPr lang="en-US" sz="35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Learning Journey Begins Here!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608272F-9EDE-A34A-2AAE-DBC63AFEDF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686" y="1712934"/>
            <a:ext cx="8449822" cy="473670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3935693" cy="646331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defRPr sz="4000" b="1">
                <a:solidFill>
                  <a:srgbClr val="2E5090"/>
                </a:solidFill>
              </a:defRPr>
            </a:pPr>
            <a:r>
              <a:rPr sz="3600"/>
              <a:t>Today's Agenda 📋</a:t>
            </a:r>
            <a:endParaRPr lang="en-US" sz="3600">
              <a:ea typeface="Calibri"/>
              <a:cs typeface="Calibri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45720"/>
          </a:xfrm>
          <a:prstGeom prst="rect">
            <a:avLst/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5819222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95959"/>
                </a:solidFill>
              </a:defRPr>
            </a:pPr>
            <a:r>
              <a:rPr sz="2400"/>
              <a:t>1. AWS Free Tier Setup (Cloud infrastructure)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94560"/>
            <a:ext cx="7447873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95959"/>
                </a:solidFill>
              </a:defRPr>
            </a:pPr>
            <a:r>
              <a:rPr sz="2400" dirty="0"/>
              <a:t>2. Google </a:t>
            </a:r>
            <a:r>
              <a:rPr sz="2400" dirty="0" err="1"/>
              <a:t>Colab</a:t>
            </a:r>
            <a:r>
              <a:rPr sz="2400" dirty="0"/>
              <a:t> / Jupyter Notebook (Coding environment)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743200"/>
            <a:ext cx="4698722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95959"/>
                </a:solidFill>
              </a:defRPr>
            </a:pPr>
            <a:r>
              <a:rPr sz="2400"/>
              <a:t>3. VS Code / IDE Setup (Code editor)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91840"/>
            <a:ext cx="6888424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95959"/>
                </a:solidFill>
              </a:defRPr>
            </a:pPr>
            <a:r>
              <a:rPr sz="2400" dirty="0"/>
              <a:t>4. </a:t>
            </a:r>
            <a:r>
              <a:rPr sz="2400" dirty="0" err="1"/>
              <a:t>MLOps</a:t>
            </a:r>
            <a:r>
              <a:rPr sz="2400" dirty="0"/>
              <a:t> Interview Prep (Questions + System Design)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840480"/>
            <a:ext cx="6066084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95959"/>
                </a:solidFill>
              </a:defRPr>
            </a:pPr>
            <a:r>
              <a:rPr sz="2400"/>
              <a:t>5. Portfolio Project Guide (High-level overview)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389120"/>
            <a:ext cx="5123518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95959"/>
                </a:solidFill>
              </a:defRPr>
            </a:pPr>
            <a:r>
              <a:rPr sz="2400" dirty="0"/>
              <a:t>6. </a:t>
            </a:r>
            <a:r>
              <a:rPr sz="2400" dirty="0" err="1"/>
              <a:t>MLOps</a:t>
            </a:r>
            <a:r>
              <a:rPr sz="2400" dirty="0"/>
              <a:t> Q&amp;A Session (Live discussion)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4826962" cy="646331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defRPr sz="4000" b="1">
                <a:solidFill>
                  <a:srgbClr val="2E5090"/>
                </a:solidFill>
              </a:defRPr>
            </a:pPr>
            <a:r>
              <a:rPr sz="3600"/>
              <a:t>AWS Free Tier Setup ☁️</a:t>
            </a:r>
            <a:endParaRPr lang="en-US" sz="3600">
              <a:ea typeface="Calibri"/>
              <a:cs typeface="Calibri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45720"/>
          </a:xfrm>
          <a:prstGeom prst="rect">
            <a:avLst/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31520" y="1262129"/>
            <a:ext cx="7680960" cy="598866"/>
          </a:xfrm>
          <a:prstGeom prst="rect">
            <a:avLst/>
          </a:prstGeom>
          <a:solidFill>
            <a:srgbClr val="E6F0FA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 b="1">
                <a:solidFill>
                  <a:srgbClr val="4472C4"/>
                </a:solidFill>
              </a:defRPr>
            </a:pPr>
            <a:r>
              <a:rPr sz="2000"/>
              <a:t>Step 1: Create Account</a:t>
            </a:r>
          </a:p>
          <a:p>
            <a:pPr>
              <a:defRPr sz="1000">
                <a:solidFill>
                  <a:srgbClr val="595959"/>
                </a:solidFill>
              </a:defRPr>
            </a:pPr>
            <a:r>
              <a:rPr sz="2000"/>
              <a:t>Go to aws.amazon.com → Create AWS Account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165583"/>
            <a:ext cx="7680960" cy="714777"/>
          </a:xfrm>
          <a:prstGeom prst="rect">
            <a:avLst/>
          </a:prstGeom>
          <a:solidFill>
            <a:srgbClr val="E6F0FA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 b="1">
                <a:solidFill>
                  <a:srgbClr val="4472C4"/>
                </a:solidFill>
              </a:defRPr>
            </a:pPr>
            <a:r>
              <a:rPr sz="2000"/>
              <a:t>Step 2: Verify</a:t>
            </a:r>
          </a:p>
          <a:p>
            <a:pPr>
              <a:defRPr sz="1000">
                <a:solidFill>
                  <a:srgbClr val="595959"/>
                </a:solidFill>
              </a:defRPr>
            </a:pPr>
            <a:r>
              <a:rPr sz="2000"/>
              <a:t>Email verification + payment method (not charged)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217142"/>
            <a:ext cx="7680960" cy="656821"/>
          </a:xfrm>
          <a:prstGeom prst="rect">
            <a:avLst/>
          </a:prstGeom>
          <a:solidFill>
            <a:srgbClr val="E6F0FA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 b="1">
                <a:solidFill>
                  <a:srgbClr val="4472C4"/>
                </a:solidFill>
              </a:defRPr>
            </a:pPr>
            <a:r>
              <a:rPr sz="2000"/>
              <a:t>Step 3: Enable Services</a:t>
            </a:r>
          </a:p>
          <a:p>
            <a:pPr>
              <a:defRPr sz="1000">
                <a:solidFill>
                  <a:srgbClr val="595959"/>
                </a:solidFill>
              </a:defRPr>
            </a:pPr>
            <a:r>
              <a:rPr sz="2000"/>
              <a:t>EC2, SageMaker, RDS, S3, Lambda (all free)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4184988"/>
            <a:ext cx="7680960" cy="663261"/>
          </a:xfrm>
          <a:prstGeom prst="rect">
            <a:avLst/>
          </a:prstGeom>
          <a:solidFill>
            <a:srgbClr val="E6F0FA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 b="1">
                <a:solidFill>
                  <a:srgbClr val="4472C4"/>
                </a:solidFill>
              </a:defRPr>
            </a:pPr>
            <a:r>
              <a:rPr sz="2000"/>
              <a:t>Step 4: Create IAM User</a:t>
            </a:r>
          </a:p>
          <a:p>
            <a:pPr>
              <a:defRPr sz="1000">
                <a:solidFill>
                  <a:srgbClr val="595959"/>
                </a:solidFill>
              </a:defRPr>
            </a:pPr>
            <a:r>
              <a:rPr sz="2000"/>
              <a:t>AWS Console → IAM → "AmazonSageMakerFullAccess"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5185033"/>
            <a:ext cx="7680960" cy="907960"/>
          </a:xfrm>
          <a:prstGeom prst="rect">
            <a:avLst/>
          </a:prstGeom>
          <a:solidFill>
            <a:srgbClr val="E6F0FA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 b="1">
                <a:solidFill>
                  <a:srgbClr val="4472C4"/>
                </a:solidFill>
              </a:defRPr>
            </a:pPr>
            <a:r>
              <a:rPr sz="2000"/>
              <a:t>Step 5: Generate Access Keys</a:t>
            </a:r>
          </a:p>
          <a:p>
            <a:pPr>
              <a:defRPr sz="1000">
                <a:solidFill>
                  <a:srgbClr val="595959"/>
                </a:solidFill>
              </a:defRPr>
            </a:pPr>
            <a:r>
              <a:rPr sz="2000"/>
              <a:t>Download CSV with Access Key ID + Secret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6954148" cy="646331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defRPr sz="4000" b="1">
                <a:solidFill>
                  <a:srgbClr val="2E5090"/>
                </a:solidFill>
              </a:defRPr>
            </a:pPr>
            <a:r>
              <a:rPr sz="3600"/>
              <a:t>AWS Free Tier: What's Included 🎁</a:t>
            </a:r>
            <a:endParaRPr lang="en-US" sz="3600">
              <a:ea typeface="Calibri"/>
              <a:cs typeface="Calibri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45720"/>
          </a:xfrm>
          <a:prstGeom prst="rect">
            <a:avLst/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199367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472C4"/>
                </a:solidFill>
              </a:defRPr>
            </a:pPr>
            <a:r>
              <a:rPr sz="1400"/>
              <a:t>EC2 Instances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08960" y="1371600"/>
            <a:ext cx="2234907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95959"/>
                </a:solidFill>
              </a:defRPr>
            </a:pPr>
            <a:r>
              <a:rPr sz="1400"/>
              <a:t>750 hours/month (t2.micro)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0" y="1371600"/>
            <a:ext cx="2085827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C000"/>
                </a:solidFill>
              </a:defRPr>
            </a:pPr>
            <a:r>
              <a:rPr sz="1400"/>
              <a:t>Run Ubuntu, training VMs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10512"/>
            <a:ext cx="1018227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472C4"/>
                </a:solidFill>
              </a:defRPr>
            </a:pPr>
            <a:r>
              <a:rPr sz="1400"/>
              <a:t>SageMaker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1810512"/>
            <a:ext cx="2212465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95959"/>
                </a:solidFill>
              </a:defRPr>
            </a:pPr>
            <a:r>
              <a:rPr sz="1400"/>
              <a:t>250 hours/month (free tier)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0" y="1810512"/>
            <a:ext cx="2048959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C000"/>
                </a:solidFill>
              </a:defRPr>
            </a:pPr>
            <a:r>
              <a:rPr sz="1400"/>
              <a:t>Full ML training &amp; serving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249424"/>
            <a:ext cx="971741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472C4"/>
                </a:solidFill>
              </a:defRPr>
            </a:pPr>
            <a:r>
              <a:rPr sz="1400"/>
              <a:t>S3 Storage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2249424"/>
            <a:ext cx="1117614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95959"/>
                </a:solidFill>
              </a:defRPr>
            </a:pPr>
            <a:r>
              <a:rPr sz="1400"/>
              <a:t>5 GB storage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0" y="2249424"/>
            <a:ext cx="1853392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C000"/>
                </a:solidFill>
              </a:defRPr>
            </a:pPr>
            <a:r>
              <a:rPr sz="1400"/>
              <a:t>Store datasets, models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688336"/>
            <a:ext cx="1223412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472C4"/>
                </a:solidFill>
              </a:defRPr>
            </a:pPr>
            <a:r>
              <a:rPr sz="1400"/>
              <a:t>RDS Database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2688336"/>
            <a:ext cx="2468946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95959"/>
                </a:solidFill>
              </a:defRPr>
            </a:pPr>
            <a:r>
              <a:rPr sz="1400"/>
              <a:t>750 hours/month (db.t2.micro)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0" y="2688336"/>
            <a:ext cx="1616148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C000"/>
                </a:solidFill>
              </a:defRPr>
            </a:pPr>
            <a:r>
              <a:rPr sz="1400"/>
              <a:t>MySQL, PostgreSQL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127248"/>
            <a:ext cx="1535998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472C4"/>
                </a:solidFill>
              </a:defRPr>
            </a:pPr>
            <a:r>
              <a:rPr sz="1400"/>
              <a:t>Lambda Functions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3127248"/>
            <a:ext cx="2247731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95959"/>
                </a:solidFill>
              </a:defRPr>
            </a:pPr>
            <a:r>
              <a:rPr sz="1400"/>
              <a:t>1 million invocations/month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40" y="3127248"/>
            <a:ext cx="1893467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C000"/>
                </a:solidFill>
              </a:defRPr>
            </a:pPr>
            <a:r>
              <a:rPr sz="1400"/>
              <a:t>Serverless ML pipelines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566160"/>
            <a:ext cx="1098378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472C4"/>
                </a:solidFill>
              </a:defRPr>
            </a:pPr>
            <a:r>
              <a:rPr sz="1400"/>
              <a:t>CloudWatch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8960" y="3566160"/>
            <a:ext cx="1297150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95959"/>
                </a:solidFill>
              </a:defRPr>
            </a:pPr>
            <a:r>
              <a:rPr sz="1400"/>
              <a:t>Full monitoring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35040" y="3566160"/>
            <a:ext cx="2036135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C000"/>
                </a:solidFill>
              </a:defRPr>
            </a:pPr>
            <a:r>
              <a:rPr sz="1400"/>
              <a:t>Track metrics, logs, alerts</a:t>
            </a:r>
          </a:p>
        </p:txBody>
      </p:sp>
      <p:pic>
        <p:nvPicPr>
          <p:cNvPr id="23" name="Picture 22" descr="Holori - The best FinOps memes to enlighten your day !">
            <a:extLst>
              <a:ext uri="{FF2B5EF4-FFF2-40B4-BE49-F238E27FC236}">
                <a16:creationId xmlns:a16="http://schemas.microsoft.com/office/drawing/2014/main" id="{B5627140-524C-2B1C-FCE7-5A903257A8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0237" y="4027958"/>
            <a:ext cx="5280337" cy="284605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0788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4000" b="1">
                <a:solidFill>
                  <a:srgbClr val="2E5090"/>
                </a:solidFill>
              </a:defRPr>
            </a:pPr>
            <a:r>
              <a:rPr dirty="0"/>
              <a:t>G</a:t>
            </a:r>
            <a:r>
              <a:rPr sz="3200" dirty="0"/>
              <a:t>oogle </a:t>
            </a:r>
            <a:r>
              <a:rPr sz="3200" dirty="0" err="1"/>
              <a:t>Colab</a:t>
            </a:r>
            <a:r>
              <a:rPr sz="3200" dirty="0"/>
              <a:t>: Free Python Notebook </a:t>
            </a:r>
            <a:r>
              <a:rPr dirty="0"/>
              <a:t>📓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45720"/>
          </a:xfrm>
          <a:prstGeom prst="rect">
            <a:avLst/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295547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472C4"/>
                </a:solidFill>
              </a:defRPr>
            </a:pPr>
            <a:r>
              <a:rPr sz="1400" dirty="0"/>
              <a:t>What is </a:t>
            </a:r>
            <a:r>
              <a:rPr sz="1400" dirty="0" err="1"/>
              <a:t>Colab</a:t>
            </a:r>
            <a:r>
              <a:rPr sz="1400" dirty="0"/>
              <a:t>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1463040"/>
            <a:ext cx="5943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595959"/>
                </a:solidFill>
              </a:defRPr>
            </a:pPr>
            <a:r>
              <a:rPr sz="1400"/>
              <a:t>Free Jupyter notebook in browser (Google account needed)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01952"/>
            <a:ext cx="678391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472C4"/>
                </a:solidFill>
              </a:defRPr>
            </a:pPr>
            <a:r>
              <a:rPr sz="1400"/>
              <a:t>Access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1901952"/>
            <a:ext cx="5943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595959"/>
                </a:solidFill>
              </a:defRPr>
            </a:pPr>
            <a:r>
              <a:rPr sz="1400" dirty="0"/>
              <a:t>colab.research.google.com OR Google Drive → New → </a:t>
            </a:r>
            <a:r>
              <a:rPr sz="1400" dirty="0" err="1"/>
              <a:t>Colab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40864"/>
            <a:ext cx="1261884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472C4"/>
                </a:solidFill>
              </a:defRPr>
            </a:pPr>
            <a:r>
              <a:rPr sz="1400"/>
              <a:t>CPU/GPU Free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2340864"/>
            <a:ext cx="5943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595959"/>
                </a:solidFill>
              </a:defRPr>
            </a:pPr>
            <a:r>
              <a:rPr sz="1400"/>
              <a:t>~12 hours free GPU per day (T4 GPU) + unlimited CPU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779776"/>
            <a:ext cx="1128835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472C4"/>
                </a:solidFill>
              </a:defRPr>
            </a:pPr>
            <a:r>
              <a:rPr sz="1400"/>
              <a:t>Pre-installed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2779776"/>
            <a:ext cx="5943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595959"/>
                </a:solidFill>
              </a:defRPr>
            </a:pPr>
            <a:r>
              <a:rPr sz="1400" dirty="0"/>
              <a:t>Python 3.10+, TensorFlow, </a:t>
            </a:r>
            <a:r>
              <a:rPr sz="1400" dirty="0" err="1"/>
              <a:t>PyTorch</a:t>
            </a:r>
            <a:r>
              <a:rPr sz="1400" dirty="0"/>
              <a:t>, scikit-learn, pandas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218688"/>
            <a:ext cx="532518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472C4"/>
                </a:solidFill>
              </a:defRPr>
            </a:pPr>
            <a:r>
              <a:rPr sz="1400"/>
              <a:t>Save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3218688"/>
            <a:ext cx="5943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595959"/>
                </a:solidFill>
              </a:defRPr>
            </a:pPr>
            <a:r>
              <a:rPr sz="1400" dirty="0"/>
              <a:t>Auto-saves to Google Drive. Download as .</a:t>
            </a:r>
            <a:r>
              <a:rPr sz="1400" dirty="0" err="1"/>
              <a:t>ipynb</a:t>
            </a:r>
            <a:r>
              <a:rPr sz="1400" dirty="0"/>
              <a:t> anytime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657600"/>
            <a:ext cx="869149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472C4"/>
                </a:solidFill>
              </a:defRPr>
            </a:pPr>
            <a:r>
              <a:rPr sz="1400"/>
              <a:t>No Setup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3657600"/>
            <a:ext cx="5943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595959"/>
                </a:solidFill>
              </a:defRPr>
            </a:pPr>
            <a:r>
              <a:rPr sz="1400"/>
              <a:t>No install needed. Start coding immediately!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4737194" cy="646331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defRPr sz="4000" b="1">
                <a:solidFill>
                  <a:srgbClr val="2E5090"/>
                </a:solidFill>
              </a:defRPr>
            </a:pPr>
            <a:r>
              <a:rPr sz="3600"/>
              <a:t>VS Code / IDE Setup 💻</a:t>
            </a:r>
            <a:endParaRPr lang="en-US" sz="3600">
              <a:ea typeface="Calibri"/>
              <a:cs typeface="Calibri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45720"/>
          </a:xfrm>
          <a:prstGeom prst="rect">
            <a:avLst/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59906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472C4"/>
                </a:solidFill>
              </a:defRPr>
            </a:pPr>
            <a:r>
              <a:rPr sz="1600"/>
              <a:t>Download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0" y="1371600"/>
            <a:ext cx="61264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595959"/>
                </a:solidFill>
              </a:defRPr>
            </a:pPr>
            <a:r>
              <a:rPr sz="1600"/>
              <a:t>code.visualstudio.com → Download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702436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472C4"/>
                </a:solidFill>
              </a:defRPr>
            </a:pPr>
            <a:r>
              <a:rPr sz="1600"/>
              <a:t>Install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0" y="1783080"/>
            <a:ext cx="61264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595959"/>
                </a:solidFill>
              </a:defRPr>
            </a:pPr>
            <a:r>
              <a:rPr sz="1600"/>
              <a:t>Run installer, add to PATH (allow shell access)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94560"/>
            <a:ext cx="1096775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472C4"/>
                </a:solidFill>
              </a:defRPr>
            </a:pPr>
            <a:r>
              <a:rPr sz="1600"/>
              <a:t>Extensions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0" y="2194560"/>
            <a:ext cx="61264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595959"/>
                </a:solidFill>
              </a:defRPr>
            </a:pPr>
            <a:r>
              <a:rPr sz="1600" dirty="0"/>
              <a:t>Install: Python, </a:t>
            </a:r>
            <a:r>
              <a:rPr sz="1600" dirty="0" err="1"/>
              <a:t>Pylance</a:t>
            </a:r>
            <a:r>
              <a:rPr sz="1600" dirty="0"/>
              <a:t>, Jupyter, Docker, Git Graph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606040"/>
            <a:ext cx="1332416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472C4"/>
                </a:solidFill>
              </a:defRPr>
            </a:pPr>
            <a:r>
              <a:rPr sz="1600"/>
              <a:t>Python Setup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2606040"/>
            <a:ext cx="61264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595959"/>
                </a:solidFill>
              </a:defRPr>
            </a:pPr>
            <a:r>
              <a:rPr sz="1600"/>
              <a:t>Select Python interpreter (3.10+) in VS Code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017520"/>
            <a:ext cx="1116011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472C4"/>
                </a:solidFill>
              </a:defRPr>
            </a:pPr>
            <a:r>
              <a:rPr sz="1600"/>
              <a:t>Virtual Env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0320" y="3017520"/>
            <a:ext cx="61264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595959"/>
                </a:solidFill>
              </a:defRPr>
            </a:pPr>
            <a:r>
              <a:rPr sz="1600" dirty="0"/>
              <a:t>python -m </a:t>
            </a:r>
            <a:r>
              <a:rPr sz="1600" dirty="0" err="1"/>
              <a:t>venv</a:t>
            </a:r>
            <a:r>
              <a:rPr sz="1600" dirty="0"/>
              <a:t> </a:t>
            </a:r>
            <a:r>
              <a:rPr sz="1600" dirty="0" err="1"/>
              <a:t>mlops_env</a:t>
            </a:r>
            <a:r>
              <a:rPr sz="1600" dirty="0"/>
              <a:t> → source activate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429000"/>
            <a:ext cx="1435008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472C4"/>
                </a:solidFill>
              </a:defRPr>
            </a:pPr>
            <a:r>
              <a:rPr sz="1600"/>
              <a:t>Git Integration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0320" y="3429000"/>
            <a:ext cx="61264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595959"/>
                </a:solidFill>
              </a:defRPr>
            </a:pPr>
            <a:r>
              <a:rPr sz="1600"/>
              <a:t>GitHub account → Clone repos → Push code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840480"/>
            <a:ext cx="1285929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472C4"/>
                </a:solidFill>
              </a:defRPr>
            </a:pPr>
            <a:r>
              <a:rPr sz="1600"/>
              <a:t>Debug Mode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3840480"/>
            <a:ext cx="61264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595959"/>
                </a:solidFill>
              </a:defRPr>
            </a:pPr>
            <a:r>
              <a:rPr sz="1600"/>
              <a:t>F5 to debug, set breakpoints, inspect variables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198078" cy="584775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defRPr sz="4000" b="1">
                <a:solidFill>
                  <a:srgbClr val="2E5090"/>
                </a:solidFill>
              </a:defRPr>
            </a:pPr>
            <a:r>
              <a:rPr sz="3200" dirty="0" err="1"/>
              <a:t>MLOps</a:t>
            </a:r>
            <a:r>
              <a:rPr sz="3200" dirty="0"/>
              <a:t> Interview Prep: Common Questions 🎤</a:t>
            </a:r>
            <a:endParaRPr lang="en-US" sz="3200">
              <a:ea typeface="Calibri"/>
              <a:cs typeface="Calibri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45720"/>
          </a:xfrm>
          <a:prstGeom prst="rect">
            <a:avLst/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4310795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4472C4"/>
                </a:solidFill>
              </a:defRPr>
            </a:pPr>
            <a:r>
              <a:rPr sz="1600"/>
              <a:t>Beginner-Level Questions (What you'll be asked)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37360"/>
            <a:ext cx="5317481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95959"/>
                </a:solidFill>
              </a:defRPr>
            </a:pPr>
            <a:r>
              <a:rPr sz="1600" dirty="0"/>
              <a:t>Q1: What is </a:t>
            </a:r>
            <a:r>
              <a:rPr sz="1600" dirty="0" err="1"/>
              <a:t>MLOps</a:t>
            </a:r>
            <a:r>
              <a:rPr sz="1600" dirty="0"/>
              <a:t>? How is it different from ML Engineering?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057400"/>
            <a:ext cx="5490606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95959"/>
                </a:solidFill>
              </a:defRPr>
            </a:pPr>
            <a:r>
              <a:rPr sz="1600"/>
              <a:t>Q2: Explain the ML lifecycle (data → train → deploy → monitor)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377440"/>
            <a:ext cx="4551246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95959"/>
                </a:solidFill>
              </a:defRPr>
            </a:pPr>
            <a:r>
              <a:rPr sz="1600"/>
              <a:t>Q3: What is model drift? How do you detect &amp; fix it?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697480"/>
            <a:ext cx="4259499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95959"/>
                </a:solidFill>
              </a:defRPr>
            </a:pPr>
            <a:r>
              <a:rPr sz="1600"/>
              <a:t>Q4: Difference between CI/CD and ML Pipelines?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4222631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95959"/>
                </a:solidFill>
              </a:defRPr>
            </a:pPr>
            <a:r>
              <a:rPr sz="1600"/>
              <a:t>Q5: How do you version datasets? (DVC, Git LFS)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337560"/>
            <a:ext cx="4285147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95959"/>
                </a:solidFill>
              </a:defRPr>
            </a:pPr>
            <a:r>
              <a:rPr sz="1600"/>
              <a:t>Q6: What is A/B testing? When would you use it?</a:t>
            </a:r>
          </a:p>
        </p:txBody>
      </p:sp>
      <p:pic>
        <p:nvPicPr>
          <p:cNvPr id="11" name="Picture 10" descr="CDN media">
            <a:extLst>
              <a:ext uri="{FF2B5EF4-FFF2-40B4-BE49-F238E27FC236}">
                <a16:creationId xmlns:a16="http://schemas.microsoft.com/office/drawing/2014/main" id="{AB786A8A-BC65-C522-D75D-7022FC1E761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-200" b="-163"/>
          <a:stretch>
            <a:fillRect/>
          </a:stretch>
        </p:blipFill>
        <p:spPr>
          <a:xfrm>
            <a:off x="5554283" y="2548943"/>
            <a:ext cx="3328674" cy="374991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6356227" cy="584775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defRPr sz="4000" b="1">
                <a:solidFill>
                  <a:srgbClr val="2E5090"/>
                </a:solidFill>
              </a:defRPr>
            </a:pPr>
            <a:r>
              <a:rPr sz="3200"/>
              <a:t>Interview Prep: Sample Answers 💡</a:t>
            </a:r>
            <a:endParaRPr lang="en-US" sz="3200">
              <a:ea typeface="Calibri"/>
              <a:cs typeface="Calibri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45720"/>
          </a:xfrm>
          <a:prstGeom prst="rect">
            <a:avLst/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4217821" cy="338554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defRPr sz="1200" b="1">
                <a:solidFill>
                  <a:srgbClr val="4472C4"/>
                </a:solidFill>
              </a:defRPr>
            </a:pPr>
            <a:r>
              <a:rPr sz="1600"/>
              <a:t>How to Answer (Structure: </a:t>
            </a:r>
            <a:r>
              <a:rPr sz="1600" i="1" u="sng">
                <a:solidFill>
                  <a:srgbClr val="92D050"/>
                </a:solidFill>
              </a:rPr>
              <a:t>What + Why + How)</a:t>
            </a:r>
            <a:endParaRPr lang="en-US" sz="1600" i="1" u="sng">
              <a:solidFill>
                <a:srgbClr val="92D050"/>
              </a:solidFill>
              <a:ea typeface="Calibri"/>
              <a:cs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14400" y="1724482"/>
            <a:ext cx="3986012" cy="403187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1100" b="1">
                <a:solidFill>
                  <a:srgbClr val="4472C4"/>
                </a:solidFill>
              </a:defRPr>
            </a:pPr>
            <a:r>
              <a:rPr sz="1600" dirty="0"/>
              <a:t>Q: What is </a:t>
            </a:r>
            <a:r>
              <a:rPr sz="1600" dirty="0" err="1"/>
              <a:t>MLOps</a:t>
            </a:r>
            <a:r>
              <a:rPr sz="1600" dirty="0"/>
              <a:t>?</a:t>
            </a:r>
          </a:p>
          <a:p>
            <a:pPr>
              <a:defRPr sz="950">
                <a:solidFill>
                  <a:srgbClr val="595959"/>
                </a:solidFill>
              </a:defRPr>
            </a:pPr>
            <a:endParaRPr sz="1600"/>
          </a:p>
          <a:p>
            <a:pPr>
              <a:defRPr sz="950">
                <a:solidFill>
                  <a:srgbClr val="595959"/>
                </a:solidFill>
              </a:defRPr>
            </a:pPr>
            <a:r>
              <a:rPr sz="1600" dirty="0"/>
              <a:t>A: </a:t>
            </a:r>
            <a:r>
              <a:rPr sz="1600" dirty="0" err="1"/>
              <a:t>MLOps</a:t>
            </a:r>
            <a:r>
              <a:rPr sz="1600" dirty="0"/>
              <a:t> (ML Operations) is automating &amp; managing the entire ML lifecycle - </a:t>
            </a:r>
            <a:endParaRPr sz="1600" dirty="0">
              <a:ea typeface="Calibri"/>
              <a:cs typeface="Calibri"/>
            </a:endParaRPr>
          </a:p>
          <a:p>
            <a:pPr>
              <a:defRPr sz="950">
                <a:solidFill>
                  <a:srgbClr val="595959"/>
                </a:solidFill>
              </a:defRPr>
            </a:pPr>
            <a:r>
              <a:rPr sz="1600"/>
              <a:t>from data collection to monitoring in production.</a:t>
            </a:r>
            <a:endParaRPr sz="1600" dirty="0">
              <a:ea typeface="Calibri"/>
              <a:cs typeface="Calibri"/>
            </a:endParaRPr>
          </a:p>
          <a:p>
            <a:pPr>
              <a:defRPr sz="950">
                <a:solidFill>
                  <a:srgbClr val="595959"/>
                </a:solidFill>
              </a:defRPr>
            </a:pPr>
            <a:endParaRPr sz="1600" dirty="0">
              <a:ea typeface="Calibri"/>
              <a:cs typeface="Calibri"/>
            </a:endParaRPr>
          </a:p>
          <a:p>
            <a:pPr>
              <a:defRPr sz="950">
                <a:solidFill>
                  <a:srgbClr val="595959"/>
                </a:solidFill>
              </a:defRPr>
            </a:pPr>
            <a:r>
              <a:rPr sz="1600" b="1" i="1" u="sng" dirty="0">
                <a:solidFill>
                  <a:srgbClr val="92D050"/>
                </a:solidFill>
              </a:rPr>
              <a:t>WHY</a:t>
            </a:r>
            <a:r>
              <a:rPr sz="1600" dirty="0"/>
              <a:t>: ML models fail silently. Data changes. Models degrade. </a:t>
            </a:r>
            <a:r>
              <a:rPr sz="1600" dirty="0" err="1"/>
              <a:t>MLOps</a:t>
            </a:r>
            <a:r>
              <a:rPr sz="1600" dirty="0"/>
              <a:t> ensures </a:t>
            </a:r>
            <a:endParaRPr sz="1600" dirty="0">
              <a:ea typeface="Calibri"/>
              <a:cs typeface="Calibri"/>
            </a:endParaRPr>
          </a:p>
          <a:p>
            <a:pPr>
              <a:defRPr sz="950">
                <a:solidFill>
                  <a:srgbClr val="595959"/>
                </a:solidFill>
              </a:defRPr>
            </a:pPr>
            <a:r>
              <a:rPr sz="1600"/>
              <a:t>models stay accurate, reliable, and scalable in production.</a:t>
            </a:r>
            <a:endParaRPr sz="1600" dirty="0">
              <a:ea typeface="Calibri"/>
              <a:cs typeface="Calibri"/>
            </a:endParaRPr>
          </a:p>
          <a:p>
            <a:pPr>
              <a:defRPr sz="950">
                <a:solidFill>
                  <a:srgbClr val="595959"/>
                </a:solidFill>
              </a:defRPr>
            </a:pPr>
            <a:endParaRPr sz="1600" dirty="0">
              <a:ea typeface="Calibri"/>
              <a:cs typeface="Calibri"/>
            </a:endParaRPr>
          </a:p>
          <a:p>
            <a:pPr>
              <a:defRPr sz="950">
                <a:solidFill>
                  <a:srgbClr val="595959"/>
                </a:solidFill>
              </a:defRPr>
            </a:pPr>
            <a:r>
              <a:rPr sz="1600" b="1" i="1" u="sng" dirty="0">
                <a:solidFill>
                  <a:srgbClr val="92D050"/>
                </a:solidFill>
              </a:rPr>
              <a:t>HOW</a:t>
            </a:r>
            <a:r>
              <a:rPr sz="1600" dirty="0"/>
              <a:t>: Use DVC (data versioning), Airflow (pipelines), </a:t>
            </a:r>
            <a:r>
              <a:rPr sz="1600" dirty="0" err="1"/>
              <a:t>MLflow</a:t>
            </a:r>
            <a:r>
              <a:rPr sz="1600" dirty="0"/>
              <a:t> (tracking), </a:t>
            </a:r>
            <a:endParaRPr sz="1600" dirty="0">
              <a:ea typeface="Calibri"/>
              <a:cs typeface="Calibri"/>
            </a:endParaRPr>
          </a:p>
          <a:p>
            <a:pPr>
              <a:defRPr sz="950">
                <a:solidFill>
                  <a:srgbClr val="595959"/>
                </a:solidFill>
              </a:defRPr>
            </a:pPr>
            <a:r>
              <a:rPr sz="1600"/>
              <a:t>Docker (deployment), Kubernetes (scaling), Prometheus (monitoring).</a:t>
            </a:r>
            <a:endParaRPr sz="1600" dirty="0">
              <a:ea typeface="Calibri"/>
              <a:cs typeface="Calibri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0718DAD-60C8-0B71-C99C-B07DFCC74B1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-135" b="-121"/>
          <a:stretch>
            <a:fillRect/>
          </a:stretch>
        </p:blipFill>
        <p:spPr>
          <a:xfrm>
            <a:off x="5231841" y="1277154"/>
            <a:ext cx="3780370" cy="491545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866530" cy="646331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defRPr sz="4000" b="1">
                <a:solidFill>
                  <a:srgbClr val="2E5090"/>
                </a:solidFill>
              </a:defRPr>
            </a:pPr>
            <a:r>
              <a:rPr sz="3600" dirty="0"/>
              <a:t>Interview Prep: System Design for </a:t>
            </a:r>
            <a:r>
              <a:rPr sz="3600" dirty="0" err="1"/>
              <a:t>MLOps</a:t>
            </a:r>
            <a:r>
              <a:rPr sz="3600" dirty="0"/>
              <a:t> 📐</a:t>
            </a:r>
            <a:endParaRPr lang="en-US" sz="3600" dirty="0">
              <a:ea typeface="Calibri"/>
              <a:cs typeface="Calibri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45720"/>
          </a:xfrm>
          <a:prstGeom prst="rect">
            <a:avLst/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4515980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4472C4"/>
                </a:solidFill>
              </a:defRPr>
            </a:pPr>
            <a:r>
              <a:rPr sz="1600"/>
              <a:t>Common Question: "Design an ML serving system"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7772400" cy="403187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900">
                <a:solidFill>
                  <a:srgbClr val="595959"/>
                </a:solidFill>
              </a:defRPr>
            </a:pPr>
            <a:r>
              <a:rPr sz="1600" b="1" i="1" u="sng"/>
              <a:t>Design Framework (Answer in 3 parts):</a:t>
            </a:r>
            <a:endParaRPr lang="en-US" sz="1600" b="1" i="1" u="sng">
              <a:ea typeface="Calibri"/>
              <a:cs typeface="Calibri"/>
            </a:endParaRPr>
          </a:p>
          <a:p>
            <a:pPr>
              <a:defRPr sz="900"/>
            </a:pPr>
            <a:endParaRPr sz="1600"/>
          </a:p>
          <a:p>
            <a:pPr>
              <a:defRPr sz="900"/>
            </a:pPr>
            <a:r>
              <a:rPr sz="1600"/>
              <a:t>1. FUNCTIONAL REQUIREMENTS</a:t>
            </a:r>
          </a:p>
          <a:p>
            <a:pPr>
              <a:defRPr sz="900"/>
            </a:pPr>
            <a:r>
              <a:rPr sz="1600"/>
              <a:t>   • What should the system do? (predict on user requests)</a:t>
            </a:r>
          </a:p>
          <a:p>
            <a:pPr>
              <a:defRPr sz="900"/>
            </a:pPr>
            <a:r>
              <a:rPr sz="1600"/>
              <a:t>   • Throughput: 1000 predictions/sec | Latency: &lt;100ms</a:t>
            </a:r>
          </a:p>
          <a:p>
            <a:pPr>
              <a:defRPr sz="900"/>
            </a:pPr>
            <a:endParaRPr sz="1600"/>
          </a:p>
          <a:p>
            <a:pPr>
              <a:defRPr sz="900"/>
            </a:pPr>
            <a:r>
              <a:rPr sz="1600"/>
              <a:t>2. TECHNICAL ARCHITECTURE</a:t>
            </a:r>
          </a:p>
          <a:p>
            <a:pPr>
              <a:defRPr sz="900"/>
            </a:pPr>
            <a:r>
              <a:rPr sz="1600"/>
              <a:t>   • Data: Kafka (streaming) + S3 (batch)</a:t>
            </a:r>
          </a:p>
          <a:p>
            <a:pPr>
              <a:defRPr sz="900"/>
            </a:pPr>
            <a:r>
              <a:rPr sz="1600" dirty="0"/>
              <a:t>   • Training: SageMaker + </a:t>
            </a:r>
            <a:r>
              <a:rPr sz="1600" dirty="0" err="1"/>
              <a:t>MLflow</a:t>
            </a:r>
            <a:endParaRPr sz="1600">
              <a:ea typeface="Calibri"/>
              <a:cs typeface="Calibri"/>
            </a:endParaRPr>
          </a:p>
          <a:p>
            <a:pPr>
              <a:defRPr sz="900"/>
            </a:pPr>
            <a:r>
              <a:rPr sz="1600" dirty="0"/>
              <a:t>   • Serving: </a:t>
            </a:r>
            <a:r>
              <a:rPr sz="1600" dirty="0" err="1"/>
              <a:t>FastAPI</a:t>
            </a:r>
            <a:r>
              <a:rPr sz="1600" dirty="0"/>
              <a:t> + Docker + Kubernetes</a:t>
            </a:r>
          </a:p>
          <a:p>
            <a:pPr>
              <a:defRPr sz="900"/>
            </a:pPr>
            <a:r>
              <a:rPr sz="1600"/>
              <a:t>   • Monitoring: Prometheus + Grafana</a:t>
            </a:r>
          </a:p>
          <a:p>
            <a:pPr>
              <a:defRPr sz="900"/>
            </a:pPr>
            <a:endParaRPr sz="1600"/>
          </a:p>
          <a:p>
            <a:pPr>
              <a:defRPr sz="900"/>
            </a:pPr>
            <a:r>
              <a:rPr sz="1600"/>
              <a:t>3. TRADEOFFS &amp; SCALING</a:t>
            </a:r>
          </a:p>
          <a:p>
            <a:pPr>
              <a:defRPr sz="900"/>
            </a:pPr>
            <a:r>
              <a:rPr sz="1600"/>
              <a:t>   • Batch vs real-time serving (latency vs cost)</a:t>
            </a:r>
          </a:p>
          <a:p>
            <a:pPr>
              <a:defRPr sz="900"/>
            </a:pPr>
            <a:r>
              <a:rPr sz="1600"/>
              <a:t>   • Model versioning (blue-green deployment)</a:t>
            </a:r>
          </a:p>
          <a:p>
            <a:pPr>
              <a:defRPr sz="900"/>
            </a:pPr>
            <a:r>
              <a:rPr sz="1600"/>
              <a:t>   • Failover &amp; disaster recovery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7026282" cy="646331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defRPr sz="4000" b="1">
                <a:solidFill>
                  <a:srgbClr val="2E5090"/>
                </a:solidFill>
              </a:defRPr>
            </a:pPr>
            <a:r>
              <a:rPr sz="3600"/>
              <a:t>Interview Prep: Coding Problem 💻</a:t>
            </a:r>
            <a:endParaRPr lang="en-US" sz="3600">
              <a:ea typeface="Calibri"/>
              <a:cs typeface="Calibri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45720"/>
          </a:xfrm>
          <a:prstGeom prst="rect">
            <a:avLst/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3770584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4472C4"/>
                </a:solidFill>
              </a:defRPr>
            </a:pPr>
            <a:r>
              <a:rPr sz="1600"/>
              <a:t>Problem: Build a simple ML prediction 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7772400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>
                <a:solidFill>
                  <a:srgbClr val="323232"/>
                </a:solidFill>
              </a:defRPr>
            </a:pPr>
            <a:r>
              <a:rPr sz="1400" dirty="0"/>
              <a:t>from flask import Flask, request, </a:t>
            </a:r>
            <a:r>
              <a:rPr sz="1400" dirty="0" err="1"/>
              <a:t>jsonify</a:t>
            </a:r>
          </a:p>
          <a:p>
            <a:pPr>
              <a:defRPr sz="750"/>
            </a:pPr>
            <a:r>
              <a:rPr sz="1400"/>
              <a:t>import pickle</a:t>
            </a:r>
          </a:p>
          <a:p>
            <a:pPr>
              <a:defRPr sz="750"/>
            </a:pPr>
            <a:r>
              <a:rPr sz="1400" dirty="0"/>
              <a:t>import </a:t>
            </a:r>
            <a:r>
              <a:rPr sz="1400" dirty="0" err="1"/>
              <a:t>numpy</a:t>
            </a:r>
            <a:r>
              <a:rPr sz="1400" dirty="0"/>
              <a:t> as np</a:t>
            </a:r>
          </a:p>
          <a:p>
            <a:pPr>
              <a:defRPr sz="750"/>
            </a:pPr>
            <a:endParaRPr sz="1400"/>
          </a:p>
          <a:p>
            <a:pPr>
              <a:defRPr sz="750"/>
            </a:pPr>
            <a:r>
              <a:rPr sz="1400"/>
              <a:t>app = Flask(__name__)</a:t>
            </a:r>
          </a:p>
          <a:p>
            <a:pPr>
              <a:defRPr sz="750"/>
            </a:pPr>
            <a:r>
              <a:rPr sz="1400" dirty="0"/>
              <a:t>model = </a:t>
            </a:r>
            <a:r>
              <a:rPr sz="1400" dirty="0" err="1"/>
              <a:t>pickle.load</a:t>
            </a:r>
            <a:r>
              <a:rPr sz="1400" dirty="0"/>
              <a:t>(open('</a:t>
            </a:r>
            <a:r>
              <a:rPr sz="1400" dirty="0" err="1"/>
              <a:t>iris_model.pkl</a:t>
            </a:r>
            <a:r>
              <a:rPr sz="1400" dirty="0"/>
              <a:t>', '</a:t>
            </a:r>
            <a:r>
              <a:rPr sz="1400" dirty="0" err="1"/>
              <a:t>rb</a:t>
            </a:r>
            <a:r>
              <a:rPr sz="1400" dirty="0"/>
              <a:t>'))</a:t>
            </a:r>
          </a:p>
          <a:p>
            <a:pPr>
              <a:defRPr sz="750"/>
            </a:pPr>
            <a:endParaRPr sz="1400"/>
          </a:p>
          <a:p>
            <a:pPr>
              <a:defRPr sz="750"/>
            </a:pPr>
            <a:r>
              <a:rPr sz="1400"/>
              <a:t>@app.route('/predict', methods=['POST'])</a:t>
            </a:r>
          </a:p>
          <a:p>
            <a:pPr>
              <a:defRPr sz="750"/>
            </a:pPr>
            <a:r>
              <a:rPr sz="1400"/>
              <a:t>def predict():</a:t>
            </a:r>
          </a:p>
          <a:p>
            <a:pPr>
              <a:defRPr sz="750"/>
            </a:pPr>
            <a:r>
              <a:rPr sz="1400" dirty="0"/>
              <a:t>    data = </a:t>
            </a:r>
            <a:r>
              <a:rPr sz="1400" dirty="0" err="1"/>
              <a:t>request.json</a:t>
            </a:r>
            <a:r>
              <a:rPr sz="1400" dirty="0"/>
              <a:t>['</a:t>
            </a:r>
            <a:r>
              <a:rPr sz="1400" dirty="0" err="1"/>
              <a:t>features'</a:t>
            </a:r>
            <a:r>
              <a:rPr sz="1400" dirty="0"/>
              <a:t>]</a:t>
            </a:r>
          </a:p>
          <a:p>
            <a:pPr>
              <a:defRPr sz="750"/>
            </a:pPr>
            <a:r>
              <a:rPr sz="1400" dirty="0"/>
              <a:t>    features = </a:t>
            </a:r>
            <a:r>
              <a:rPr sz="1400" dirty="0" err="1"/>
              <a:t>np.array</a:t>
            </a:r>
            <a:r>
              <a:rPr sz="1400" dirty="0"/>
              <a:t>(data).reshape(1, -1)</a:t>
            </a:r>
          </a:p>
          <a:p>
            <a:pPr>
              <a:defRPr sz="750"/>
            </a:pPr>
            <a:r>
              <a:rPr sz="1400" dirty="0"/>
              <a:t>    prediction = </a:t>
            </a:r>
            <a:r>
              <a:rPr sz="1400" dirty="0" err="1"/>
              <a:t>model.predict</a:t>
            </a:r>
            <a:r>
              <a:rPr sz="1400" dirty="0"/>
              <a:t>(features)[0]</a:t>
            </a:r>
          </a:p>
          <a:p>
            <a:pPr>
              <a:defRPr sz="750"/>
            </a:pPr>
            <a:r>
              <a:rPr sz="1400" dirty="0"/>
              <a:t>    return </a:t>
            </a:r>
            <a:r>
              <a:rPr sz="1400" dirty="0" err="1"/>
              <a:t>jsonify</a:t>
            </a:r>
            <a:r>
              <a:rPr sz="1400" dirty="0"/>
              <a:t>({'prediction': int(prediction)})</a:t>
            </a:r>
          </a:p>
          <a:p>
            <a:pPr>
              <a:defRPr sz="750"/>
            </a:pPr>
            <a:endParaRPr sz="1400"/>
          </a:p>
          <a:p>
            <a:pPr>
              <a:defRPr sz="750"/>
            </a:pPr>
            <a:r>
              <a:rPr sz="1400"/>
              <a:t>if __name__ == '__main__':</a:t>
            </a:r>
          </a:p>
          <a:p>
            <a:pPr>
              <a:defRPr sz="750"/>
            </a:pPr>
            <a:r>
              <a:rPr sz="1400" dirty="0"/>
              <a:t>    </a:t>
            </a:r>
            <a:r>
              <a:rPr sz="1400" dirty="0" err="1"/>
              <a:t>app.run</a:t>
            </a:r>
            <a:r>
              <a:rPr sz="1400" dirty="0"/>
              <a:t>(port=5000)</a:t>
            </a:r>
          </a:p>
          <a:p>
            <a:pPr>
              <a:defRPr sz="750"/>
            </a:pPr>
            <a:endParaRPr sz="1400"/>
          </a:p>
          <a:p>
            <a:pPr>
              <a:defRPr sz="750"/>
            </a:pPr>
            <a:r>
              <a:rPr sz="1400"/>
              <a:t># Test:</a:t>
            </a:r>
          </a:p>
          <a:p>
            <a:pPr>
              <a:defRPr sz="750"/>
            </a:pPr>
            <a:r>
              <a:rPr sz="1400"/>
              <a:t># curl -X POST http://localhost:5000/predict \</a:t>
            </a:r>
          </a:p>
          <a:p>
            <a:pPr>
              <a:defRPr sz="750"/>
            </a:pPr>
            <a:r>
              <a:rPr sz="1400" dirty="0"/>
              <a:t>#      -H "Content-Type: application/</a:t>
            </a:r>
            <a:r>
              <a:rPr sz="1400" dirty="0" err="1"/>
              <a:t>json</a:t>
            </a:r>
            <a:r>
              <a:rPr sz="1400" dirty="0"/>
              <a:t>" \</a:t>
            </a:r>
          </a:p>
          <a:p>
            <a:pPr>
              <a:defRPr sz="750"/>
            </a:pPr>
            <a:r>
              <a:rPr sz="1400"/>
              <a:t>#      -d '{"features": [5.1, 3.5, 1.4, 0.2]}'</a:t>
            </a:r>
          </a:p>
          <a:p>
            <a:pPr>
              <a:defRPr sz="750"/>
            </a:pPr>
            <a:endParaRPr sz="14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5307863" cy="646331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defRPr sz="4000" b="1">
                <a:solidFill>
                  <a:srgbClr val="2E5090"/>
                </a:solidFill>
              </a:defRPr>
            </a:pPr>
            <a:r>
              <a:rPr sz="3600"/>
              <a:t>Portfolio Project Guide 📂</a:t>
            </a:r>
            <a:endParaRPr lang="en-US" sz="3600">
              <a:ea typeface="Calibri"/>
              <a:cs typeface="Calibri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45720"/>
          </a:xfrm>
          <a:prstGeom prst="rect">
            <a:avLst/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2754280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4472C4"/>
                </a:solidFill>
              </a:defRPr>
            </a:pPr>
            <a:r>
              <a:rPr sz="1600"/>
              <a:t>Why Portfolio Projects Matter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4110421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95959"/>
                </a:solidFill>
              </a:defRPr>
            </a:pPr>
            <a:r>
              <a:rPr sz="1600"/>
              <a:t>✓ Proves you can build end-to-end ML systems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395728"/>
            <a:ext cx="5977919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95959"/>
                </a:solidFill>
              </a:defRPr>
            </a:pPr>
            <a:r>
              <a:rPr sz="1600"/>
              <a:t>✓ Shows production thinking: monitoring, versioning, documentation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71216"/>
            <a:ext cx="6583854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95959"/>
                </a:solidFill>
              </a:defRPr>
            </a:pPr>
            <a:r>
              <a:rPr sz="1600"/>
              <a:t>✓ Hiring managers want to see: Code quality, system design, communication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346704"/>
            <a:ext cx="4435830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95959"/>
                </a:solidFill>
              </a:defRPr>
            </a:pPr>
            <a:r>
              <a:rPr sz="1600"/>
              <a:t>✓ Differentiates you from 10,000 freshers applying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822191"/>
            <a:ext cx="4878259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95959"/>
                </a:solidFill>
              </a:defRPr>
            </a:pPr>
            <a:r>
              <a:rPr sz="1600"/>
              <a:t>✓ LinkedIn + GitHub visibility = Direct inbound job offers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6950942" cy="646331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defRPr sz="4000" b="1">
                <a:solidFill>
                  <a:srgbClr val="2E5090"/>
                </a:solidFill>
              </a:defRPr>
            </a:pPr>
            <a:r>
              <a:rPr sz="3600"/>
              <a:t>Portfolio Project: What to Build 🛠️</a:t>
            </a:r>
            <a:endParaRPr lang="en-US" sz="3600">
              <a:ea typeface="Calibri"/>
              <a:cs typeface="Calibri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45720"/>
          </a:xfrm>
          <a:prstGeom prst="rect">
            <a:avLst/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7680960" cy="548640"/>
          </a:xfrm>
          <a:prstGeom prst="rect">
            <a:avLst/>
          </a:prstGeom>
          <a:solidFill>
            <a:srgbClr val="E6F0FA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 b="1">
                <a:solidFill>
                  <a:srgbClr val="4472C4"/>
                </a:solidFill>
              </a:defRPr>
            </a:pPr>
            <a:r>
              <a:rPr sz="1600"/>
              <a:t>Project 1: Data Pipeline (DVC + Airflow)</a:t>
            </a:r>
          </a:p>
          <a:p>
            <a:pPr>
              <a:defRPr sz="1000">
                <a:solidFill>
                  <a:srgbClr val="595959"/>
                </a:solidFill>
              </a:defRPr>
            </a:pPr>
            <a:r>
              <a:rPr sz="1600"/>
              <a:t>Automate data ingestion, cleaning, versioning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468880"/>
            <a:ext cx="7680960" cy="548640"/>
          </a:xfrm>
          <a:prstGeom prst="rect">
            <a:avLst/>
          </a:prstGeom>
          <a:solidFill>
            <a:srgbClr val="E6F0FA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 b="1">
                <a:solidFill>
                  <a:srgbClr val="4472C4"/>
                </a:solidFill>
              </a:defRPr>
            </a:pPr>
            <a:r>
              <a:rPr sz="1600" dirty="0"/>
              <a:t>Project 2: ML Serving API (</a:t>
            </a:r>
            <a:r>
              <a:rPr sz="1600" dirty="0" err="1"/>
              <a:t>FastAPI</a:t>
            </a:r>
            <a:r>
              <a:rPr sz="1600" dirty="0"/>
              <a:t> + Docker)</a:t>
            </a:r>
          </a:p>
          <a:p>
            <a:pPr>
              <a:defRPr sz="1000">
                <a:solidFill>
                  <a:srgbClr val="595959"/>
                </a:solidFill>
              </a:defRPr>
            </a:pPr>
            <a:r>
              <a:rPr sz="1600"/>
              <a:t>Deploy model, expose REST API, containerize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291840"/>
            <a:ext cx="7680960" cy="548640"/>
          </a:xfrm>
          <a:prstGeom prst="rect">
            <a:avLst/>
          </a:prstGeom>
          <a:solidFill>
            <a:srgbClr val="E6F0FA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 b="1">
                <a:solidFill>
                  <a:srgbClr val="4472C4"/>
                </a:solidFill>
              </a:defRPr>
            </a:pPr>
            <a:r>
              <a:rPr sz="1600" dirty="0"/>
              <a:t>Project 3: Full </a:t>
            </a:r>
            <a:r>
              <a:rPr sz="1600" dirty="0" err="1"/>
              <a:t>MLOps</a:t>
            </a:r>
            <a:r>
              <a:rPr sz="1600" dirty="0"/>
              <a:t> System (End-to-end)</a:t>
            </a:r>
          </a:p>
          <a:p>
            <a:pPr>
              <a:defRPr sz="1000">
                <a:solidFill>
                  <a:srgbClr val="595959"/>
                </a:solidFill>
              </a:defRPr>
            </a:pPr>
            <a:r>
              <a:rPr sz="1600"/>
              <a:t>Data → Train → Serve → Monitor (Prometheus)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303520"/>
            <a:ext cx="7315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i="1">
                <a:solidFill>
                  <a:srgbClr val="FFC000"/>
                </a:solidFill>
              </a:defRPr>
            </a:pPr>
            <a:r>
              <a:rPr sz="1600"/>
              <a:t>⭐ Detailed breakdown: Sessions 1-10 will cover each project step-by-step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6473247" cy="646331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defRPr sz="4000" b="1">
                <a:solidFill>
                  <a:srgbClr val="2E5090"/>
                </a:solidFill>
              </a:defRPr>
            </a:pPr>
            <a:r>
              <a:rPr sz="3600" dirty="0" err="1"/>
              <a:t>MLOps</a:t>
            </a:r>
            <a:r>
              <a:rPr sz="3600" dirty="0"/>
              <a:t> Q&amp;A: Quick Concepts 🎯</a:t>
            </a:r>
            <a:endParaRPr lang="en-US" sz="3600" dirty="0">
              <a:ea typeface="Calibri"/>
              <a:cs typeface="Calibri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45720"/>
          </a:xfrm>
          <a:prstGeom prst="rect">
            <a:avLst/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3578224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4472C4"/>
                </a:solidFill>
              </a:defRPr>
            </a:pPr>
            <a:r>
              <a:rPr sz="1400"/>
              <a:t>Key Concepts You'll Encounter (Freshers FAQ)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498855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472C4"/>
                </a:solidFill>
              </a:defRPr>
            </a:pPr>
            <a:r>
              <a:rPr sz="1400"/>
              <a:t>DVC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0" y="1828800"/>
            <a:ext cx="3796232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95959"/>
                </a:solidFill>
              </a:defRPr>
            </a:pPr>
            <a:r>
              <a:rPr sz="1400"/>
              <a:t>Data Version Control - Track data changes like Git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194560"/>
            <a:ext cx="747320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472C4"/>
                </a:solidFill>
              </a:defRPr>
            </a:pPr>
            <a:r>
              <a:rPr sz="1400" dirty="0" err="1"/>
              <a:t>MLflow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194560"/>
            <a:ext cx="3579826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95959"/>
                </a:solidFill>
              </a:defRPr>
            </a:pPr>
            <a:r>
              <a:rPr sz="1400"/>
              <a:t>Experiment tracking + model registry + serving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560320"/>
            <a:ext cx="1039067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472C4"/>
                </a:solidFill>
              </a:defRPr>
            </a:pPr>
            <a:r>
              <a:rPr sz="1400"/>
              <a:t>Kubernetes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2560320"/>
            <a:ext cx="3770584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95959"/>
                </a:solidFill>
              </a:defRPr>
            </a:pPr>
            <a:r>
              <a:rPr sz="1400"/>
              <a:t>Container orchestration - scale models to servers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926079"/>
            <a:ext cx="710451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472C4"/>
                </a:solidFill>
              </a:defRPr>
            </a:pPr>
            <a:r>
              <a:rPr sz="1400"/>
              <a:t>Docker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2926079"/>
            <a:ext cx="3714478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95959"/>
                </a:solidFill>
              </a:defRPr>
            </a:pPr>
            <a:r>
              <a:rPr sz="1400"/>
              <a:t>Containerization - package code + dependencies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291839"/>
            <a:ext cx="1093569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472C4"/>
                </a:solidFill>
              </a:defRPr>
            </a:pPr>
            <a:r>
              <a:rPr sz="1400"/>
              <a:t>Prometheus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3291839"/>
            <a:ext cx="4025461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95959"/>
                </a:solidFill>
              </a:defRPr>
            </a:pPr>
            <a:r>
              <a:rPr sz="1400"/>
              <a:t>Monitoring - track model performance in production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657599"/>
            <a:ext cx="1050288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472C4"/>
                </a:solidFill>
              </a:defRPr>
            </a:pPr>
            <a:r>
              <a:rPr sz="1400"/>
              <a:t>Model Drift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3657599"/>
            <a:ext cx="3781805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95959"/>
                </a:solidFill>
              </a:defRPr>
            </a:pPr>
            <a:r>
              <a:rPr sz="1400"/>
              <a:t>When model accuracy drops due to data changes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023359"/>
            <a:ext cx="1194558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472C4"/>
                </a:solidFill>
              </a:defRPr>
            </a:pPr>
            <a:r>
              <a:rPr sz="1400"/>
              <a:t>Feature Store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4023359"/>
            <a:ext cx="3820277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95959"/>
                </a:solidFill>
              </a:defRPr>
            </a:pPr>
            <a:r>
              <a:rPr sz="1400"/>
              <a:t>Centralized repo of features for training &amp; serving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4389120"/>
            <a:ext cx="1712328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472C4"/>
                </a:solidFill>
              </a:defRPr>
            </a:pPr>
            <a:r>
              <a:rPr sz="1400"/>
              <a:t>Experiment Tracking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4389120"/>
            <a:ext cx="3579826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95959"/>
                </a:solidFill>
              </a:defRPr>
            </a:pPr>
            <a:r>
              <a:rPr sz="1400"/>
              <a:t>Log params, metrics, artifacts to compare runs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6301725" cy="646331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defRPr sz="4000" b="1">
                <a:solidFill>
                  <a:srgbClr val="2E5090"/>
                </a:solidFill>
              </a:defRPr>
            </a:pPr>
            <a:r>
              <a:rPr sz="3600"/>
              <a:t>Handout &amp; Reference Guide 📚</a:t>
            </a:r>
            <a:endParaRPr lang="en-US" sz="3600">
              <a:ea typeface="Calibri"/>
              <a:cs typeface="Calibri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45720"/>
          </a:xfrm>
          <a:prstGeom prst="rect">
            <a:avLst/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2869696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4472C4"/>
                </a:solidFill>
              </a:defRPr>
            </a:pPr>
            <a:r>
              <a:rPr sz="1600"/>
              <a:t>What You'll Get After This Class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828800"/>
            <a:ext cx="7498079" cy="411480"/>
          </a:xfrm>
          <a:prstGeom prst="rect">
            <a:avLst/>
          </a:prstGeom>
          <a:solidFill>
            <a:srgbClr val="F0F8FF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 b="1">
                <a:solidFill>
                  <a:srgbClr val="4472C4"/>
                </a:solidFill>
              </a:defRPr>
            </a:pPr>
            <a:r>
              <a:rPr sz="1600"/>
              <a:t>Complete Setup Guide</a:t>
            </a:r>
          </a:p>
          <a:p>
            <a:pPr>
              <a:defRPr sz="900">
                <a:solidFill>
                  <a:srgbClr val="595959"/>
                </a:solidFill>
              </a:defRPr>
            </a:pPr>
            <a:r>
              <a:rPr sz="1600"/>
              <a:t>Step-by-step AWS, Colab, VS Code setup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423160"/>
            <a:ext cx="7498079" cy="411480"/>
          </a:xfrm>
          <a:prstGeom prst="rect">
            <a:avLst/>
          </a:prstGeom>
          <a:solidFill>
            <a:srgbClr val="F0F8FF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 b="1">
                <a:solidFill>
                  <a:srgbClr val="4472C4"/>
                </a:solidFill>
              </a:defRPr>
            </a:pPr>
            <a:r>
              <a:rPr sz="1600"/>
              <a:t>MLOps Glossary (PDF)</a:t>
            </a:r>
          </a:p>
          <a:p>
            <a:pPr>
              <a:defRPr sz="900">
                <a:solidFill>
                  <a:srgbClr val="595959"/>
                </a:solidFill>
              </a:defRPr>
            </a:pPr>
            <a:r>
              <a:rPr sz="1600"/>
              <a:t>Quick reference: DVC, MLflow, Kubernetes, etc.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3017520"/>
            <a:ext cx="7498079" cy="411480"/>
          </a:xfrm>
          <a:prstGeom prst="rect">
            <a:avLst/>
          </a:prstGeom>
          <a:solidFill>
            <a:srgbClr val="F0F8FF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 b="1">
                <a:solidFill>
                  <a:srgbClr val="4472C4"/>
                </a:solidFill>
              </a:defRPr>
            </a:pPr>
            <a:r>
              <a:rPr sz="1600"/>
              <a:t>Interview QA Document</a:t>
            </a:r>
          </a:p>
          <a:p>
            <a:pPr>
              <a:defRPr sz="900">
                <a:solidFill>
                  <a:srgbClr val="595959"/>
                </a:solidFill>
              </a:defRPr>
            </a:pPr>
            <a:r>
              <a:rPr sz="1600"/>
              <a:t>50+ MLOps interview questions with answers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611879"/>
            <a:ext cx="7498079" cy="411480"/>
          </a:xfrm>
          <a:prstGeom prst="rect">
            <a:avLst/>
          </a:prstGeom>
          <a:solidFill>
            <a:srgbClr val="F0F8FF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 b="1">
                <a:solidFill>
                  <a:srgbClr val="4472C4"/>
                </a:solidFill>
              </a:defRPr>
            </a:pPr>
            <a:r>
              <a:rPr sz="1600"/>
              <a:t>Code Templates</a:t>
            </a:r>
          </a:p>
          <a:p>
            <a:pPr>
              <a:defRPr sz="900">
                <a:solidFill>
                  <a:srgbClr val="595959"/>
                </a:solidFill>
              </a:defRPr>
            </a:pPr>
            <a:r>
              <a:rPr sz="1600"/>
              <a:t>Flask API, Airflow DAG, MLflow tracking examples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4206240"/>
            <a:ext cx="7498079" cy="411480"/>
          </a:xfrm>
          <a:prstGeom prst="rect">
            <a:avLst/>
          </a:prstGeom>
          <a:solidFill>
            <a:srgbClr val="F0F8FF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 b="1">
                <a:solidFill>
                  <a:srgbClr val="4472C4"/>
                </a:solidFill>
              </a:defRPr>
            </a:pPr>
            <a:r>
              <a:rPr sz="1600"/>
              <a:t>Resource Links</a:t>
            </a:r>
          </a:p>
          <a:p>
            <a:pPr>
              <a:defRPr sz="900">
                <a:solidFill>
                  <a:srgbClr val="595959"/>
                </a:solidFill>
              </a:defRPr>
            </a:pPr>
            <a:r>
              <a:rPr sz="1600"/>
              <a:t>Curated tutorials, documentation, learning paths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4800600"/>
            <a:ext cx="7498079" cy="411480"/>
          </a:xfrm>
          <a:prstGeom prst="rect">
            <a:avLst/>
          </a:prstGeom>
          <a:solidFill>
            <a:srgbClr val="F0F8FF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 b="1">
                <a:solidFill>
                  <a:srgbClr val="4472C4"/>
                </a:solidFill>
              </a:defRPr>
            </a:pPr>
            <a:r>
              <a:rPr sz="1600"/>
              <a:t>Portfolio Project Templates</a:t>
            </a:r>
          </a:p>
          <a:p>
            <a:pPr>
              <a:defRPr sz="900">
                <a:solidFill>
                  <a:srgbClr val="595959"/>
                </a:solidFill>
              </a:defRPr>
            </a:pPr>
            <a:r>
              <a:rPr sz="1600"/>
              <a:t>GitHub repo with starter code for all 3 projects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4166525" cy="646331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defRPr sz="4000" b="1">
                <a:solidFill>
                  <a:srgbClr val="2E5090"/>
                </a:solidFill>
              </a:defRPr>
            </a:pPr>
            <a:r>
              <a:rPr sz="3600"/>
              <a:t>Anticipated Q&amp;A 💬</a:t>
            </a:r>
            <a:endParaRPr lang="en-US" sz="3600">
              <a:ea typeface="Calibri"/>
              <a:cs typeface="Calibri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45720"/>
          </a:xfrm>
          <a:prstGeom prst="rect">
            <a:avLst/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3528530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4472C4"/>
                </a:solidFill>
              </a:defRPr>
            </a:pPr>
            <a:r>
              <a:rPr sz="1600"/>
              <a:t>Questions Freshers Ask (With Answers)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3441968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472C4"/>
                </a:solidFill>
              </a:defRPr>
            </a:pPr>
            <a:r>
              <a:rPr sz="1600"/>
              <a:t>Q: Do I need GPU for learning MLOps?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84832"/>
            <a:ext cx="7772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595959"/>
                </a:solidFill>
              </a:defRPr>
            </a:pPr>
            <a:r>
              <a:rPr sz="1400"/>
              <a:t>A: No. Free Colab GPU is enough. AWS handles scaling.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514600"/>
            <a:ext cx="3385863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472C4"/>
                </a:solidFill>
              </a:defRPr>
            </a:pPr>
            <a:r>
              <a:rPr sz="1600"/>
              <a:t>Q: Can I skip AWS and just use Colab?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70632"/>
            <a:ext cx="7772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595959"/>
                </a:solidFill>
              </a:defRPr>
            </a:pPr>
            <a:r>
              <a:rPr sz="1400"/>
              <a:t>A: Not recommended. Learn both for complete picture.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00400"/>
            <a:ext cx="2845651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472C4"/>
                </a:solidFill>
              </a:defRPr>
            </a:pPr>
            <a:r>
              <a:rPr sz="1600"/>
              <a:t>Q: How long to master MLOps?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456432"/>
            <a:ext cx="7772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595959"/>
                </a:solidFill>
              </a:defRPr>
            </a:pPr>
            <a:r>
              <a:rPr sz="1400"/>
              <a:t>A: 6-12 months hands-on practice. Depth comes with experience.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886200"/>
            <a:ext cx="3547766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472C4"/>
                </a:solidFill>
              </a:defRPr>
            </a:pPr>
            <a:r>
              <a:rPr sz="1600"/>
              <a:t>Q: Which framework should I focus on?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142232"/>
            <a:ext cx="7772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595959"/>
                </a:solidFill>
              </a:defRPr>
            </a:pPr>
            <a:r>
              <a:rPr sz="1400"/>
              <a:t>A: Start scikit-learn, then TensorFlow (industry popular).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2986715" cy="646331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defRPr sz="4000" b="1">
                <a:solidFill>
                  <a:srgbClr val="2E5090"/>
                </a:solidFill>
              </a:defRPr>
            </a:pPr>
            <a:r>
              <a:rPr sz="3600"/>
              <a:t>More Q&amp;A 💬</a:t>
            </a:r>
            <a:endParaRPr lang="en-US" sz="3600">
              <a:ea typeface="Calibri"/>
              <a:cs typeface="Calibri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45720"/>
          </a:xfrm>
          <a:prstGeom prst="rect">
            <a:avLst/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4887877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4472C4"/>
                </a:solidFill>
              </a:defRPr>
            </a:pPr>
            <a:r>
              <a:rPr sz="1600" dirty="0"/>
              <a:t>Q: What's the difference between </a:t>
            </a:r>
            <a:r>
              <a:rPr sz="1600" dirty="0" err="1"/>
              <a:t>MLOps</a:t>
            </a:r>
            <a:r>
              <a:rPr sz="1600" dirty="0"/>
              <a:t> and DevOps?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82496"/>
            <a:ext cx="7772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595959"/>
                </a:solidFill>
              </a:defRPr>
            </a:pPr>
            <a:r>
              <a:rPr sz="1600" dirty="0"/>
              <a:t>A: DevOps: automate software. </a:t>
            </a:r>
            <a:r>
              <a:rPr sz="1600" dirty="0" err="1"/>
              <a:t>MLOps</a:t>
            </a:r>
            <a:r>
              <a:rPr sz="1600" dirty="0"/>
              <a:t>: automate ML models.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29968"/>
            <a:ext cx="3033203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4472C4"/>
                </a:solidFill>
              </a:defRPr>
            </a:pPr>
            <a:r>
              <a:rPr sz="1600"/>
              <a:t>Q: Do I need Kubernetes to start?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49424"/>
            <a:ext cx="7772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595959"/>
                </a:solidFill>
              </a:defRPr>
            </a:pPr>
            <a:r>
              <a:rPr sz="1600"/>
              <a:t>A: No. Learn Docker first. K8s comes later (optional).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96896"/>
            <a:ext cx="4174541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4472C4"/>
                </a:solidFill>
              </a:defRPr>
            </a:pPr>
            <a:r>
              <a:rPr sz="1600"/>
              <a:t>Q: How to stand out among 10,000 applicants?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816352"/>
            <a:ext cx="7772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595959"/>
                </a:solidFill>
              </a:defRPr>
            </a:pPr>
            <a:r>
              <a:rPr sz="1600"/>
              <a:t>A: GitHub projects + blog posts + conference talks.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163824"/>
            <a:ext cx="4365298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4472C4"/>
                </a:solidFill>
              </a:defRPr>
            </a:pPr>
            <a:r>
              <a:rPr sz="1600"/>
              <a:t>Q: Will the industry accept me without a degree?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383280"/>
            <a:ext cx="7772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595959"/>
                </a:solidFill>
              </a:defRPr>
            </a:pPr>
            <a:r>
              <a:rPr sz="1600"/>
              <a:t>A: Yes. Skills &gt; degree. Portfolio + experience = highest value.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730752"/>
            <a:ext cx="3523722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4472C4"/>
                </a:solidFill>
              </a:defRPr>
            </a:pPr>
            <a:r>
              <a:rPr sz="1600"/>
              <a:t>Q: Should I pursue specialization early?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950208"/>
            <a:ext cx="7772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595959"/>
                </a:solidFill>
              </a:defRPr>
            </a:pPr>
            <a:r>
              <a:rPr sz="1600"/>
              <a:t>A: No. Build breadth first. Specialize after 2-3 years.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FBF39A69-DF15-7158-3374-D87207775EE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277321" y="3729104"/>
            <a:ext cx="3528408" cy="2973678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6109365" cy="646331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defRPr sz="4000" b="1">
                <a:solidFill>
                  <a:srgbClr val="2E5090"/>
                </a:solidFill>
              </a:defRPr>
            </a:pPr>
            <a:r>
              <a:rPr lang="en-US" sz="3600"/>
              <a:t>Resources</a:t>
            </a:r>
            <a:r>
              <a:rPr sz="3600"/>
              <a:t> &amp; Learning Links 🔗</a:t>
            </a:r>
            <a:endParaRPr lang="en-US" sz="3600">
              <a:ea typeface="Calibri"/>
              <a:cs typeface="Calibri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45720"/>
          </a:xfrm>
          <a:prstGeom prst="rect">
            <a:avLst/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71600" y="1645920"/>
            <a:ext cx="593432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472C4"/>
                </a:solidFill>
              </a:defRPr>
            </a:pPr>
            <a:r>
              <a:rPr sz="1600"/>
              <a:t>AWS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0" y="1645920"/>
            <a:ext cx="2047355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95959"/>
                </a:solidFill>
              </a:defRPr>
            </a:pPr>
            <a:r>
              <a:rPr sz="1600"/>
              <a:t>aws.amazon.com/free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103120"/>
            <a:ext cx="1314784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472C4"/>
                </a:solidFill>
              </a:defRPr>
            </a:pPr>
            <a:r>
              <a:rPr sz="1600" dirty="0"/>
              <a:t>Google </a:t>
            </a:r>
            <a:r>
              <a:rPr sz="1600" dirty="0" err="1"/>
              <a:t>Colab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2103120"/>
            <a:ext cx="2425664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95959"/>
                </a:solidFill>
              </a:defRPr>
            </a:pPr>
            <a:r>
              <a:rPr sz="1600"/>
              <a:t>colab.research.google.com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560320"/>
            <a:ext cx="883575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472C4"/>
                </a:solidFill>
              </a:defRPr>
            </a:pPr>
            <a:r>
              <a:rPr sz="1600"/>
              <a:t>VS Code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60320"/>
            <a:ext cx="2042547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95959"/>
                </a:solidFill>
              </a:defRPr>
            </a:pPr>
            <a:r>
              <a:rPr sz="1600"/>
              <a:t>code.visualstudio.com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017520"/>
            <a:ext cx="1284326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472C4"/>
                </a:solidFill>
              </a:defRPr>
            </a:pPr>
            <a:r>
              <a:rPr sz="1600" dirty="0" err="1"/>
              <a:t>MLflow</a:t>
            </a:r>
            <a:r>
              <a:rPr sz="1600" dirty="0"/>
              <a:t> Docs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3017520"/>
            <a:ext cx="1088760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95959"/>
                </a:solidFill>
              </a:defRPr>
            </a:pPr>
            <a:r>
              <a:rPr sz="1600"/>
              <a:t>mlflow.org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474720"/>
            <a:ext cx="1000595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472C4"/>
                </a:solidFill>
              </a:defRPr>
            </a:pPr>
            <a:r>
              <a:rPr sz="1600"/>
              <a:t>DVC Docs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3474720"/>
            <a:ext cx="800219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95959"/>
                </a:solidFill>
              </a:defRPr>
            </a:pPr>
            <a:r>
              <a:rPr sz="1600"/>
              <a:t>dvc.org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931920"/>
            <a:ext cx="1162498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472C4"/>
                </a:solidFill>
              </a:defRPr>
            </a:pPr>
            <a:r>
              <a:rPr sz="1600"/>
              <a:t>Kubernetes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3931920"/>
            <a:ext cx="1797287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95959"/>
                </a:solidFill>
              </a:defRPr>
            </a:pPr>
            <a:r>
              <a:rPr sz="1600"/>
              <a:t>kubernetes.io/docs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389120"/>
            <a:ext cx="821059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472C4"/>
                </a:solidFill>
              </a:defRPr>
            </a:pPr>
            <a:r>
              <a:rPr sz="1600" dirty="0" err="1"/>
              <a:t>FastAPI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0" y="4389120"/>
            <a:ext cx="1888659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95959"/>
                </a:solidFill>
              </a:defRPr>
            </a:pPr>
            <a:r>
              <a:rPr sz="1600"/>
              <a:t>fastapi.tiangolo.com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846320"/>
            <a:ext cx="787395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472C4"/>
                </a:solidFill>
              </a:defRPr>
            </a:pPr>
            <a:r>
              <a:rPr sz="1600"/>
              <a:t>GitHub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0" y="4846320"/>
            <a:ext cx="1128835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95959"/>
                </a:solidFill>
              </a:defRPr>
            </a:pPr>
            <a:r>
              <a:rPr sz="1600"/>
              <a:t>github.com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2B48B6-1483-453A-EC0C-1D9A4A7986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 descr="Wood human figure">
            <a:extLst>
              <a:ext uri="{FF2B5EF4-FFF2-40B4-BE49-F238E27FC236}">
                <a16:creationId xmlns:a16="http://schemas.microsoft.com/office/drawing/2014/main" id="{F16A5113-F3A9-0C7B-E0CB-6BFC3B2D1B8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0999" b="-1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42" name="Rectangle 41">
            <a:extLst>
              <a:ext uri="{FF2B5EF4-FFF2-40B4-BE49-F238E27FC236}">
                <a16:creationId xmlns:a16="http://schemas.microsoft.com/office/drawing/2014/main" id="{B4916930-E76E-4100-9DCF-4981566A37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93031" y="1885950"/>
            <a:ext cx="6379369" cy="3152775"/>
          </a:xfrm>
          <a:prstGeom prst="rect">
            <a:avLst/>
          </a:prstGeom>
          <a:solidFill>
            <a:schemeClr val="bg1">
              <a:alpha val="75000"/>
            </a:schemeClr>
          </a:solidFill>
          <a:ln w="63500" cmpd="dbl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CF336BD-82B3-7002-8F60-99B3AADB255D}"/>
              </a:ext>
            </a:extLst>
          </p:cNvPr>
          <p:cNvSpPr txBox="1"/>
          <p:nvPr/>
        </p:nvSpPr>
        <p:spPr>
          <a:xfrm>
            <a:off x="1707356" y="2247900"/>
            <a:ext cx="5686425" cy="2514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5400" b="1">
                <a:solidFill>
                  <a:srgbClr val="FFFFFF"/>
                </a:solidFill>
              </a:defRPr>
            </a:pPr>
            <a:r>
              <a:rPr lang="en-US" sz="57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rPr>
              <a:t>Need more  ?.</a:t>
            </a:r>
          </a:p>
        </p:txBody>
      </p:sp>
    </p:spTree>
    <p:extLst>
      <p:ext uri="{BB962C8B-B14F-4D97-AF65-F5344CB8AC3E}">
        <p14:creationId xmlns:p14="http://schemas.microsoft.com/office/powerpoint/2010/main" val="18057922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7948010" cy="646331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defRPr sz="4000" b="1">
                <a:solidFill>
                  <a:srgbClr val="2E5090"/>
                </a:solidFill>
              </a:defRPr>
            </a:pPr>
            <a:r>
              <a:rPr sz="3600" dirty="0"/>
              <a:t>Resume Building for </a:t>
            </a:r>
            <a:r>
              <a:rPr sz="3600" dirty="0" err="1"/>
              <a:t>MLOps</a:t>
            </a:r>
            <a:r>
              <a:rPr sz="3600" dirty="0"/>
              <a:t> Freshers 📄</a:t>
            </a:r>
            <a:endParaRPr lang="en-US" sz="3600" dirty="0">
              <a:ea typeface="Calibri"/>
              <a:cs typeface="Calibri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45720"/>
          </a:xfrm>
          <a:prstGeom prst="rect">
            <a:avLst/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4158511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4472C4"/>
                </a:solidFill>
              </a:defRPr>
            </a:pPr>
            <a:r>
              <a:rPr sz="1600"/>
              <a:t>What Hiring Managers Look For (In This Order)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737360"/>
            <a:ext cx="7680960" cy="438912"/>
          </a:xfrm>
          <a:prstGeom prst="rect">
            <a:avLst/>
          </a:prstGeom>
          <a:solidFill>
            <a:srgbClr val="E6F0FA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 b="1">
                <a:solidFill>
                  <a:srgbClr val="4472C4"/>
                </a:solidFill>
              </a:defRPr>
            </a:pPr>
            <a:r>
              <a:rPr sz="1600"/>
              <a:t>1. Portfolio Projects</a:t>
            </a:r>
          </a:p>
          <a:p>
            <a:pPr>
              <a:defRPr sz="900">
                <a:solidFill>
                  <a:srgbClr val="595959"/>
                </a:solidFill>
              </a:defRPr>
            </a:pPr>
            <a:r>
              <a:rPr sz="1600"/>
              <a:t>GitHub links to 3-4 end-to-end ML projects [MUST HAVE]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304288"/>
            <a:ext cx="7680960" cy="438912"/>
          </a:xfrm>
          <a:prstGeom prst="rect">
            <a:avLst/>
          </a:prstGeom>
          <a:solidFill>
            <a:srgbClr val="E6F0FA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 b="1">
                <a:solidFill>
                  <a:srgbClr val="4472C4"/>
                </a:solidFill>
              </a:defRPr>
            </a:pPr>
            <a:r>
              <a:rPr sz="1600"/>
              <a:t>2. Technical Skills</a:t>
            </a:r>
          </a:p>
          <a:p>
            <a:pPr>
              <a:defRPr sz="900">
                <a:solidFill>
                  <a:srgbClr val="595959"/>
                </a:solidFill>
              </a:defRPr>
            </a:pPr>
            <a:r>
              <a:rPr sz="1600" dirty="0"/>
              <a:t>DVC, </a:t>
            </a:r>
            <a:r>
              <a:rPr sz="1600" dirty="0" err="1"/>
              <a:t>MLflow</a:t>
            </a:r>
            <a:r>
              <a:rPr sz="1600" dirty="0"/>
              <a:t>, Docker, K8s, </a:t>
            </a:r>
            <a:r>
              <a:rPr sz="1600" dirty="0" err="1"/>
              <a:t>FastAPI</a:t>
            </a:r>
            <a:r>
              <a:rPr sz="1600" dirty="0"/>
              <a:t>, Airflow [CRITICAL]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871216"/>
            <a:ext cx="7680960" cy="438912"/>
          </a:xfrm>
          <a:prstGeom prst="rect">
            <a:avLst/>
          </a:prstGeom>
          <a:solidFill>
            <a:srgbClr val="E6F0FA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 b="1">
                <a:solidFill>
                  <a:srgbClr val="4472C4"/>
                </a:solidFill>
              </a:defRPr>
            </a:pPr>
            <a:r>
              <a:rPr sz="1600"/>
              <a:t>3. Impact Metrics</a:t>
            </a:r>
          </a:p>
          <a:p>
            <a:pPr>
              <a:defRPr sz="900">
                <a:solidFill>
                  <a:srgbClr val="595959"/>
                </a:solidFill>
              </a:defRPr>
            </a:pPr>
            <a:r>
              <a:rPr sz="1600"/>
              <a:t>"Deployed model serving 1M predictions/day" [IMPORTANT]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438144"/>
            <a:ext cx="7680960" cy="438912"/>
          </a:xfrm>
          <a:prstGeom prst="rect">
            <a:avLst/>
          </a:prstGeom>
          <a:solidFill>
            <a:srgbClr val="E6F0FA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 b="1">
                <a:solidFill>
                  <a:srgbClr val="4472C4"/>
                </a:solidFill>
              </a:defRPr>
            </a:pPr>
            <a:r>
              <a:rPr sz="1600"/>
              <a:t>4. Education</a:t>
            </a:r>
          </a:p>
          <a:p>
            <a:pPr>
              <a:defRPr sz="900">
                <a:solidFill>
                  <a:srgbClr val="595959"/>
                </a:solidFill>
              </a:defRPr>
            </a:pPr>
            <a:r>
              <a:rPr sz="1600"/>
              <a:t>Degree + certifications (AWS, GCP, CKA optional) [NICE TO HAVE]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4005072"/>
            <a:ext cx="7680960" cy="438912"/>
          </a:xfrm>
          <a:prstGeom prst="rect">
            <a:avLst/>
          </a:prstGeom>
          <a:solidFill>
            <a:srgbClr val="E6F0FA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 b="1">
                <a:solidFill>
                  <a:srgbClr val="4472C4"/>
                </a:solidFill>
              </a:defRPr>
            </a:pPr>
            <a:r>
              <a:rPr sz="1600"/>
              <a:t>5. Open Source</a:t>
            </a:r>
          </a:p>
          <a:p>
            <a:pPr>
              <a:defRPr sz="900">
                <a:solidFill>
                  <a:srgbClr val="595959"/>
                </a:solidFill>
              </a:defRPr>
            </a:pPr>
            <a:r>
              <a:rPr sz="1600" dirty="0"/>
              <a:t>Contributions to </a:t>
            </a:r>
            <a:r>
              <a:rPr sz="1600" dirty="0" err="1"/>
              <a:t>MLflow</a:t>
            </a:r>
            <a:r>
              <a:rPr sz="1600" dirty="0"/>
              <a:t>, Ray, Airflow repos [DIFFERENTIATOR]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4572000"/>
            <a:ext cx="7680960" cy="438912"/>
          </a:xfrm>
          <a:prstGeom prst="rect">
            <a:avLst/>
          </a:prstGeom>
          <a:solidFill>
            <a:srgbClr val="E6F0FA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 b="1">
                <a:solidFill>
                  <a:srgbClr val="4472C4"/>
                </a:solidFill>
              </a:defRPr>
            </a:pPr>
            <a:r>
              <a:rPr sz="1600"/>
              <a:t>6. Blog/Speaking</a:t>
            </a:r>
          </a:p>
          <a:p>
            <a:pPr>
              <a:defRPr sz="900">
                <a:solidFill>
                  <a:srgbClr val="595959"/>
                </a:solidFill>
              </a:defRPr>
            </a:pPr>
            <a:r>
              <a:rPr sz="1600"/>
              <a:t>Technical blog posts or conference talks [STANDOUT]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02887" cy="646331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defRPr sz="4000" b="1">
                <a:solidFill>
                  <a:srgbClr val="2E5090"/>
                </a:solidFill>
              </a:defRPr>
            </a:pPr>
            <a:r>
              <a:rPr sz="3600" dirty="0"/>
              <a:t>Resume Template for </a:t>
            </a:r>
            <a:r>
              <a:rPr sz="3600" dirty="0" err="1"/>
              <a:t>MLOps</a:t>
            </a:r>
            <a:r>
              <a:rPr sz="3600" dirty="0"/>
              <a:t> Freshers 📋</a:t>
            </a:r>
            <a:endParaRPr lang="en-US" sz="3600" dirty="0">
              <a:ea typeface="Calibri"/>
              <a:cs typeface="Calibri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45720"/>
          </a:xfrm>
          <a:prstGeom prst="rect">
            <a:avLst/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49381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750">
                <a:solidFill>
                  <a:srgbClr val="595959"/>
                </a:solidFill>
              </a:defRPr>
            </a:pPr>
            <a:r>
              <a:rPr sz="900"/>
              <a:t>HEADER: Name | Email | Phone | LinkedIn | GitHub</a:t>
            </a:r>
            <a:endParaRPr lang="en-US" sz="900">
              <a:ea typeface="Calibri"/>
              <a:cs typeface="Calibri"/>
            </a:endParaRPr>
          </a:p>
          <a:p>
            <a:pPr>
              <a:defRPr sz="750"/>
            </a:pPr>
            <a:endParaRPr sz="900" dirty="0">
              <a:ea typeface="Calibri"/>
              <a:cs typeface="Calibri"/>
            </a:endParaRPr>
          </a:p>
          <a:p>
            <a:pPr>
              <a:defRPr sz="750"/>
            </a:pPr>
            <a:r>
              <a:rPr sz="900" b="1" i="1"/>
              <a:t>SUMMARY (2-3 lines</a:t>
            </a:r>
            <a:r>
              <a:rPr lang="en-US" sz="900" b="1" i="1"/>
              <a:t>):</a:t>
            </a:r>
            <a:endParaRPr sz="900" b="1" i="1">
              <a:ea typeface="Calibri"/>
              <a:cs typeface="Calibri"/>
            </a:endParaRPr>
          </a:p>
          <a:p>
            <a:pPr>
              <a:defRPr sz="750"/>
            </a:pPr>
            <a:r>
              <a:rPr sz="900" dirty="0"/>
              <a:t>"</a:t>
            </a:r>
            <a:r>
              <a:rPr sz="900" dirty="0" err="1"/>
              <a:t>MLOps</a:t>
            </a:r>
            <a:r>
              <a:rPr sz="900" dirty="0"/>
              <a:t> engineer building &amp; deploying production ML systems. </a:t>
            </a:r>
            <a:endParaRPr sz="900" dirty="0">
              <a:ea typeface="Calibri"/>
              <a:cs typeface="Calibri"/>
            </a:endParaRPr>
          </a:p>
          <a:p>
            <a:pPr>
              <a:defRPr sz="750"/>
            </a:pPr>
            <a:r>
              <a:rPr sz="900" dirty="0"/>
              <a:t>Skilled in DVC, Docker, Kubernetes, </a:t>
            </a:r>
            <a:r>
              <a:rPr sz="900" dirty="0" err="1"/>
              <a:t>MLflow</a:t>
            </a:r>
            <a:r>
              <a:rPr sz="900" dirty="0"/>
              <a:t>."</a:t>
            </a:r>
            <a:endParaRPr sz="900" dirty="0">
              <a:ea typeface="Calibri"/>
              <a:cs typeface="Calibri"/>
            </a:endParaRPr>
          </a:p>
          <a:p>
            <a:pPr>
              <a:defRPr sz="750"/>
            </a:pPr>
            <a:endParaRPr sz="900" dirty="0">
              <a:ea typeface="Calibri"/>
              <a:cs typeface="Calibri"/>
            </a:endParaRPr>
          </a:p>
          <a:p>
            <a:pPr>
              <a:defRPr sz="750"/>
            </a:pPr>
            <a:r>
              <a:rPr lang="en-US" sz="900" b="1" i="1"/>
              <a:t>TECHNICAL SKILLS</a:t>
            </a:r>
            <a:endParaRPr sz="900" b="1" i="1">
              <a:ea typeface="Calibri"/>
              <a:cs typeface="Calibri"/>
            </a:endParaRPr>
          </a:p>
          <a:p>
            <a:pPr>
              <a:defRPr sz="750"/>
            </a:pPr>
            <a:r>
              <a:rPr sz="900"/>
              <a:t>• Data &amp; Versioning: DVC, SQL, Pandas, Git</a:t>
            </a:r>
            <a:endParaRPr sz="900" dirty="0">
              <a:ea typeface="Calibri"/>
              <a:cs typeface="Calibri"/>
            </a:endParaRPr>
          </a:p>
          <a:p>
            <a:pPr>
              <a:defRPr sz="750"/>
            </a:pPr>
            <a:r>
              <a:rPr sz="900" dirty="0"/>
              <a:t>• Frameworks: scikit-learn, TensorFlow, </a:t>
            </a:r>
            <a:r>
              <a:rPr sz="900" dirty="0" err="1"/>
              <a:t>PyTorch</a:t>
            </a:r>
            <a:endParaRPr sz="900" dirty="0">
              <a:ea typeface="Calibri"/>
              <a:cs typeface="Calibri"/>
            </a:endParaRPr>
          </a:p>
          <a:p>
            <a:pPr>
              <a:defRPr sz="750"/>
            </a:pPr>
            <a:r>
              <a:rPr sz="900" dirty="0"/>
              <a:t>• Deployment: Docker, Kubernetes, Airflow, </a:t>
            </a:r>
            <a:r>
              <a:rPr sz="900" dirty="0" err="1"/>
              <a:t>FastAPI</a:t>
            </a:r>
            <a:endParaRPr sz="900" dirty="0">
              <a:ea typeface="Calibri"/>
              <a:cs typeface="Calibri"/>
            </a:endParaRPr>
          </a:p>
          <a:p>
            <a:pPr>
              <a:defRPr sz="750"/>
            </a:pPr>
            <a:r>
              <a:rPr sz="900" dirty="0"/>
              <a:t>• Tools: </a:t>
            </a:r>
            <a:r>
              <a:rPr sz="900" dirty="0" err="1"/>
              <a:t>MLflow</a:t>
            </a:r>
            <a:r>
              <a:rPr sz="900" dirty="0"/>
              <a:t>, AWS SageMaker, Prometheus</a:t>
            </a:r>
            <a:endParaRPr sz="900" dirty="0">
              <a:ea typeface="Calibri"/>
              <a:cs typeface="Calibri"/>
            </a:endParaRPr>
          </a:p>
          <a:p>
            <a:pPr>
              <a:defRPr sz="750"/>
            </a:pPr>
            <a:endParaRPr sz="900" dirty="0">
              <a:ea typeface="Calibri"/>
              <a:cs typeface="Calibri"/>
            </a:endParaRPr>
          </a:p>
          <a:p>
            <a:pPr>
              <a:defRPr sz="750"/>
            </a:pPr>
            <a:r>
              <a:rPr sz="900" b="1" i="1"/>
              <a:t>PROJECTS (GitHub links - YOUR POWER!)</a:t>
            </a:r>
            <a:endParaRPr sz="900" b="1" i="1">
              <a:ea typeface="Calibri"/>
              <a:cs typeface="Calibri"/>
            </a:endParaRPr>
          </a:p>
          <a:p>
            <a:pPr>
              <a:defRPr sz="750"/>
            </a:pPr>
            <a:r>
              <a:rPr sz="900"/>
              <a:t>1. Data Pipeline Automation (DVC + Airflow)</a:t>
            </a:r>
            <a:endParaRPr sz="900" dirty="0">
              <a:ea typeface="Calibri"/>
              <a:cs typeface="Calibri"/>
            </a:endParaRPr>
          </a:p>
          <a:p>
            <a:pPr>
              <a:defRPr sz="750"/>
            </a:pPr>
            <a:r>
              <a:rPr sz="900"/>
              <a:t>   Automated data ingestion &amp; cleaning for 50GB dataset</a:t>
            </a:r>
            <a:endParaRPr sz="900" dirty="0">
              <a:ea typeface="Calibri"/>
              <a:cs typeface="Calibri"/>
            </a:endParaRPr>
          </a:p>
          <a:p>
            <a:pPr>
              <a:defRPr sz="750"/>
            </a:pPr>
            <a:r>
              <a:rPr sz="900"/>
              <a:t>   GitHub: [link] | Reduced manual work by 80%</a:t>
            </a:r>
            <a:endParaRPr sz="900" dirty="0">
              <a:ea typeface="Calibri"/>
              <a:cs typeface="Calibri"/>
            </a:endParaRPr>
          </a:p>
          <a:p>
            <a:pPr>
              <a:defRPr sz="750"/>
            </a:pPr>
            <a:endParaRPr sz="900" dirty="0">
              <a:ea typeface="Calibri"/>
              <a:cs typeface="Calibri"/>
            </a:endParaRPr>
          </a:p>
          <a:p>
            <a:pPr>
              <a:defRPr sz="750"/>
            </a:pPr>
            <a:r>
              <a:rPr sz="900" b="1" i="1" dirty="0"/>
              <a:t>2. ML Model API (</a:t>
            </a:r>
            <a:r>
              <a:rPr sz="900" b="1" i="1" dirty="0" err="1"/>
              <a:t>FastAPI</a:t>
            </a:r>
            <a:r>
              <a:rPr sz="900" b="1" i="1" dirty="0"/>
              <a:t> + Docker + K8s)</a:t>
            </a:r>
            <a:endParaRPr sz="900" b="1" i="1">
              <a:ea typeface="Calibri"/>
              <a:cs typeface="Calibri"/>
            </a:endParaRPr>
          </a:p>
          <a:p>
            <a:pPr>
              <a:defRPr sz="750"/>
            </a:pPr>
            <a:r>
              <a:rPr sz="900"/>
              <a:t>   Production REST API for classification model</a:t>
            </a:r>
            <a:endParaRPr sz="900" dirty="0">
              <a:ea typeface="Calibri"/>
              <a:cs typeface="Calibri"/>
            </a:endParaRPr>
          </a:p>
          <a:p>
            <a:pPr>
              <a:defRPr sz="750"/>
            </a:pPr>
            <a:r>
              <a:rPr sz="900"/>
              <a:t>   Serves 100+ requests/day with &lt;100ms latency</a:t>
            </a:r>
            <a:endParaRPr sz="900" dirty="0">
              <a:ea typeface="Calibri"/>
              <a:cs typeface="Calibri"/>
            </a:endParaRPr>
          </a:p>
          <a:p>
            <a:pPr>
              <a:defRPr sz="750"/>
            </a:pPr>
            <a:r>
              <a:rPr sz="900"/>
              <a:t>   GitHub: [link] | Live API: [endpoint]</a:t>
            </a:r>
            <a:endParaRPr sz="900" dirty="0">
              <a:ea typeface="Calibri"/>
              <a:cs typeface="Calibri"/>
            </a:endParaRPr>
          </a:p>
          <a:p>
            <a:pPr>
              <a:defRPr sz="750"/>
            </a:pPr>
            <a:endParaRPr sz="900" dirty="0">
              <a:ea typeface="Calibri"/>
              <a:cs typeface="Calibri"/>
            </a:endParaRPr>
          </a:p>
          <a:p>
            <a:pPr>
              <a:defRPr sz="750"/>
            </a:pPr>
            <a:r>
              <a:rPr sz="900" b="1" i="1" dirty="0"/>
              <a:t>3. Full </a:t>
            </a:r>
            <a:r>
              <a:rPr sz="900" b="1" i="1" dirty="0" err="1"/>
              <a:t>MLOps</a:t>
            </a:r>
            <a:r>
              <a:rPr sz="900" b="1" i="1" dirty="0"/>
              <a:t> System (End-to-end)</a:t>
            </a:r>
            <a:endParaRPr sz="900" b="1" i="1">
              <a:ea typeface="Calibri"/>
              <a:cs typeface="Calibri"/>
            </a:endParaRPr>
          </a:p>
          <a:p>
            <a:pPr>
              <a:defRPr sz="750"/>
            </a:pPr>
            <a:r>
              <a:rPr sz="900"/>
              <a:t>   Data → Training → Serving → Monitoring</a:t>
            </a:r>
            <a:endParaRPr sz="900" dirty="0">
              <a:ea typeface="Calibri"/>
              <a:cs typeface="Calibri"/>
            </a:endParaRPr>
          </a:p>
          <a:p>
            <a:pPr>
              <a:defRPr sz="750"/>
            </a:pPr>
            <a:r>
              <a:rPr sz="900"/>
              <a:t>   GitHub: [link] with architecture diagrams</a:t>
            </a:r>
            <a:endParaRPr sz="900" dirty="0">
              <a:ea typeface="Calibri"/>
              <a:cs typeface="Calibri"/>
            </a:endParaRPr>
          </a:p>
          <a:p>
            <a:pPr>
              <a:defRPr sz="750"/>
            </a:pPr>
            <a:endParaRPr sz="900" dirty="0">
              <a:ea typeface="Calibri"/>
              <a:cs typeface="Calibri"/>
            </a:endParaRPr>
          </a:p>
          <a:p>
            <a:pPr>
              <a:defRPr sz="750"/>
            </a:pPr>
            <a:r>
              <a:rPr sz="900" b="1" i="1"/>
              <a:t>EXPERIENCE / INTERNSHIP</a:t>
            </a:r>
            <a:endParaRPr sz="900" b="1" i="1">
              <a:ea typeface="Calibri"/>
              <a:cs typeface="Calibri"/>
            </a:endParaRPr>
          </a:p>
          <a:p>
            <a:pPr>
              <a:defRPr sz="750"/>
            </a:pPr>
            <a:r>
              <a:rPr sz="900"/>
              <a:t>• Reduced model deployment time from 2 days to 2 hours</a:t>
            </a:r>
            <a:endParaRPr sz="900" dirty="0">
              <a:ea typeface="Calibri"/>
              <a:cs typeface="Calibri"/>
            </a:endParaRPr>
          </a:p>
          <a:p>
            <a:pPr>
              <a:defRPr sz="750"/>
            </a:pPr>
            <a:r>
              <a:rPr sz="900"/>
              <a:t>• Built monitoring dashboard catching 95% model drift</a:t>
            </a:r>
            <a:endParaRPr sz="900" dirty="0">
              <a:ea typeface="Calibri"/>
              <a:cs typeface="Calibri"/>
            </a:endParaRPr>
          </a:p>
          <a:p>
            <a:pPr>
              <a:defRPr sz="750"/>
            </a:pPr>
            <a:endParaRPr sz="900" dirty="0">
              <a:ea typeface="Calibri"/>
              <a:cs typeface="Calibri"/>
            </a:endParaRPr>
          </a:p>
          <a:p>
            <a:pPr>
              <a:defRPr sz="750"/>
            </a:pPr>
            <a:r>
              <a:rPr sz="900" b="1" i="1"/>
              <a:t>CERTIFICATIONS (Optional)</a:t>
            </a:r>
            <a:endParaRPr sz="900" b="1" i="1">
              <a:ea typeface="Calibri"/>
              <a:cs typeface="Calibri"/>
            </a:endParaRPr>
          </a:p>
          <a:p>
            <a:pPr>
              <a:defRPr sz="750"/>
            </a:pPr>
            <a:r>
              <a:rPr sz="900"/>
              <a:t>AWS Certified Solutions Architect / Kubernetes CKA</a:t>
            </a:r>
            <a:endParaRPr sz="900" dirty="0">
              <a:ea typeface="Calibri"/>
              <a:cs typeface="Calibri"/>
            </a:endParaRPr>
          </a:p>
          <a:p>
            <a:pPr>
              <a:defRPr sz="750"/>
            </a:pPr>
            <a:endParaRPr sz="900" dirty="0">
              <a:ea typeface="Calibri"/>
              <a:cs typeface="Calibri"/>
            </a:endParaRPr>
          </a:p>
          <a:p>
            <a:pPr>
              <a:defRPr sz="750"/>
            </a:pPr>
            <a:r>
              <a:rPr sz="900" b="1" i="1"/>
              <a:t>EDUCATION</a:t>
            </a:r>
            <a:endParaRPr sz="900" b="1" i="1">
              <a:ea typeface="Calibri"/>
              <a:cs typeface="Calibri"/>
            </a:endParaRPr>
          </a:p>
          <a:p>
            <a:pPr>
              <a:defRPr sz="750"/>
            </a:pPr>
            <a:r>
              <a:rPr sz="900" dirty="0" err="1"/>
              <a:t>Bachelor's</a:t>
            </a:r>
            <a:r>
              <a:rPr sz="900" dirty="0"/>
              <a:t> in CS/IT from [University]</a:t>
            </a:r>
            <a:endParaRPr sz="900" dirty="0">
              <a:ea typeface="Calibri"/>
              <a:cs typeface="Calibri"/>
            </a:endParaRPr>
          </a:p>
          <a:p>
            <a:pPr>
              <a:defRPr sz="750"/>
            </a:pPr>
            <a:endParaRPr sz="900" dirty="0">
              <a:ea typeface="Calibri"/>
              <a:cs typeface="Calibri"/>
            </a:endParaRPr>
          </a:p>
          <a:p>
            <a:pPr>
              <a:defRPr sz="750"/>
            </a:pPr>
            <a:r>
              <a:rPr sz="900"/>
              <a:t>DO'S ✓: Keep to 1 page | Lead with projects | Use action verbs</a:t>
            </a:r>
            <a:endParaRPr sz="900" dirty="0">
              <a:ea typeface="Calibri"/>
              <a:cs typeface="Calibri"/>
            </a:endParaRPr>
          </a:p>
          <a:p>
            <a:pPr>
              <a:defRPr sz="750"/>
            </a:pPr>
            <a:r>
              <a:rPr sz="900"/>
              <a:t>DON'Ts ✗: Don't lie | Don't skip GitHub links | Don't be vague</a:t>
            </a:r>
            <a:endParaRPr sz="900" dirty="0">
              <a:ea typeface="Calibri"/>
              <a:cs typeface="Calibri"/>
            </a:endParaRPr>
          </a:p>
          <a:p>
            <a:pPr>
              <a:defRPr sz="750"/>
            </a:pPr>
            <a:endParaRPr sz="900" dirty="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6519734" cy="646331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defRPr sz="4000" b="1">
                <a:solidFill>
                  <a:srgbClr val="2E5090"/>
                </a:solidFill>
              </a:defRPr>
            </a:pPr>
            <a:r>
              <a:rPr sz="3600"/>
              <a:t>LinkedIn Profile Optimization 🎯</a:t>
            </a:r>
            <a:endParaRPr lang="en-US" sz="3600">
              <a:ea typeface="Calibri"/>
              <a:cs typeface="Calibri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45720"/>
          </a:xfrm>
          <a:prstGeom prst="rect">
            <a:avLst/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2188420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4472C4"/>
                </a:solidFill>
              </a:defRPr>
            </a:pPr>
            <a:r>
              <a:rPr sz="1600"/>
              <a:t>Get Recruiter Attention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1303562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472C4"/>
                </a:solidFill>
              </a:defRPr>
            </a:pPr>
            <a:r>
              <a:rPr sz="1600"/>
              <a:t>Profile Photo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0" y="1737360"/>
            <a:ext cx="39319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595959"/>
                </a:solidFill>
              </a:defRPr>
            </a:pPr>
            <a:r>
              <a:rPr sz="1600"/>
              <a:t>Professional headshot (smiling, clear)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0" y="1737360"/>
            <a:ext cx="909223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FC000"/>
                </a:solidFill>
              </a:defRPr>
            </a:pPr>
            <a:r>
              <a:rPr sz="1600"/>
              <a:t>[Critical]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76272"/>
            <a:ext cx="941283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472C4"/>
                </a:solidFill>
              </a:defRPr>
            </a:pPr>
            <a:r>
              <a:rPr sz="1600"/>
              <a:t>Headline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2176272"/>
            <a:ext cx="39319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595959"/>
                </a:solidFill>
              </a:defRPr>
            </a:pPr>
            <a:r>
              <a:rPr sz="1600" dirty="0"/>
              <a:t>"</a:t>
            </a:r>
            <a:r>
              <a:rPr sz="1600" dirty="0" err="1"/>
              <a:t>MLOps</a:t>
            </a:r>
            <a:r>
              <a:rPr sz="1600" dirty="0"/>
              <a:t> Engineer | Building Production ML Systems"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0" y="2176272"/>
            <a:ext cx="909223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FC000"/>
                </a:solidFill>
              </a:defRPr>
            </a:pPr>
            <a:r>
              <a:rPr sz="1600"/>
              <a:t>[Critical]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615184"/>
            <a:ext cx="1386918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472C4"/>
                </a:solidFill>
              </a:defRPr>
            </a:pPr>
            <a:r>
              <a:rPr sz="1600"/>
              <a:t>About Section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2615184"/>
            <a:ext cx="39319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595959"/>
                </a:solidFill>
              </a:defRPr>
            </a:pPr>
            <a:r>
              <a:rPr sz="1600" dirty="0"/>
              <a:t>3-4 sentences about </a:t>
            </a:r>
            <a:r>
              <a:rPr sz="1600" dirty="0" err="1"/>
              <a:t>MLOps</a:t>
            </a:r>
            <a:r>
              <a:rPr sz="1600" dirty="0"/>
              <a:t> focus + GitHub link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0" y="2615184"/>
            <a:ext cx="1188146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FC000"/>
                </a:solidFill>
              </a:defRPr>
            </a:pPr>
            <a:r>
              <a:rPr sz="1600"/>
              <a:t>[Important]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054096"/>
            <a:ext cx="1117614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472C4"/>
                </a:solidFill>
              </a:defRPr>
            </a:pPr>
            <a:r>
              <a:rPr sz="1600"/>
              <a:t>Experience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3054096"/>
            <a:ext cx="39319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595959"/>
                </a:solidFill>
              </a:defRPr>
            </a:pPr>
            <a:r>
              <a:rPr sz="1600"/>
              <a:t>Add projects as "Experience" with descriptions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3054096"/>
            <a:ext cx="1188146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FC000"/>
                </a:solidFill>
              </a:defRPr>
            </a:pPr>
            <a:r>
              <a:rPr sz="1600"/>
              <a:t>[Important]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493008"/>
            <a:ext cx="611065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472C4"/>
                </a:solidFill>
              </a:defRPr>
            </a:pPr>
            <a:r>
              <a:rPr sz="1600"/>
              <a:t>Skills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3493008"/>
            <a:ext cx="39319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595959"/>
                </a:solidFill>
              </a:defRPr>
            </a:pPr>
            <a:r>
              <a:rPr sz="1600" dirty="0"/>
              <a:t>Add: DVC, Docker, K8s, </a:t>
            </a:r>
            <a:r>
              <a:rPr sz="1600" dirty="0" err="1"/>
              <a:t>MLflow</a:t>
            </a:r>
            <a:r>
              <a:rPr sz="1600" dirty="0"/>
              <a:t>, Airflow, </a:t>
            </a:r>
            <a:r>
              <a:rPr sz="1600" dirty="0" err="1"/>
              <a:t>FastAPI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3493008"/>
            <a:ext cx="1188146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FC000"/>
                </a:solidFill>
              </a:defRPr>
            </a:pPr>
            <a:r>
              <a:rPr sz="1600"/>
              <a:t>[Important]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931920"/>
            <a:ext cx="1390124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472C4"/>
                </a:solidFill>
              </a:defRPr>
            </a:pPr>
            <a:r>
              <a:rPr sz="1600"/>
              <a:t>Open to Work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26080" y="3931920"/>
            <a:ext cx="39319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595959"/>
                </a:solidFill>
              </a:defRPr>
            </a:pPr>
            <a:r>
              <a:rPr sz="1600"/>
              <a:t>Turn ON badge for recruiter visibility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0880" y="3931920"/>
            <a:ext cx="909223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FC000"/>
                </a:solidFill>
              </a:defRPr>
            </a:pPr>
            <a:r>
              <a:rPr sz="1600"/>
              <a:t>[Critical]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370831"/>
            <a:ext cx="1402948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472C4"/>
                </a:solidFill>
              </a:defRPr>
            </a:pPr>
            <a:r>
              <a:rPr sz="1600"/>
              <a:t>Post &amp; Engage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26080" y="4370831"/>
            <a:ext cx="39319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595959"/>
                </a:solidFill>
              </a:defRPr>
            </a:pPr>
            <a:r>
              <a:rPr sz="1600"/>
              <a:t>Share learnings weekly → visibility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4370831"/>
            <a:ext cx="1495922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FC000"/>
                </a:solidFill>
              </a:defRPr>
            </a:pPr>
            <a:r>
              <a:rPr sz="1600"/>
              <a:t>[Differentiator]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5859296" cy="646331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defRPr sz="4000" b="1">
                <a:solidFill>
                  <a:srgbClr val="2E5090"/>
                </a:solidFill>
              </a:defRPr>
            </a:pPr>
            <a:r>
              <a:rPr sz="3600"/>
              <a:t>How to Nail the Interview 💪</a:t>
            </a:r>
            <a:endParaRPr lang="en-US" sz="3600">
              <a:ea typeface="Calibri"/>
              <a:cs typeface="Calibri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45720"/>
          </a:xfrm>
          <a:prstGeom prst="rect">
            <a:avLst/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554480"/>
            <a:ext cx="75895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595959"/>
                </a:solidFill>
              </a:defRPr>
            </a:pPr>
            <a:r>
              <a:rPr sz="1400"/>
              <a:t>✓ Use STAR method: Situation → Task → Action → Result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029967"/>
            <a:ext cx="75895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595959"/>
                </a:solidFill>
              </a:defRPr>
            </a:pPr>
            <a:r>
              <a:rPr sz="1400"/>
              <a:t>✓ Prepare 3-4 stories about your projects (use in every answer)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505456"/>
            <a:ext cx="75895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595959"/>
                </a:solidFill>
              </a:defRPr>
            </a:pPr>
            <a:r>
              <a:rPr sz="1400"/>
              <a:t>✓ In technical rounds: Think out loud, explain your approach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980944"/>
            <a:ext cx="75895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595959"/>
                </a:solidFill>
              </a:defRPr>
            </a:pPr>
            <a:r>
              <a:rPr sz="1400"/>
              <a:t>✓ Ask good questions: "How do you handle model drift?"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456432"/>
            <a:ext cx="75895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595959"/>
                </a:solidFill>
              </a:defRPr>
            </a:pPr>
            <a:r>
              <a:rPr sz="1400"/>
              <a:t>✓ Send thank-you email within 2 hours (mention specifics)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931920"/>
            <a:ext cx="75895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595959"/>
                </a:solidFill>
              </a:defRPr>
            </a:pPr>
            <a:r>
              <a:rPr sz="1400" dirty="0"/>
              <a:t>✓ Practice </a:t>
            </a:r>
            <a:r>
              <a:rPr sz="1400" dirty="0" err="1"/>
              <a:t>LeetCode</a:t>
            </a:r>
            <a:r>
              <a:rPr sz="1400" dirty="0"/>
              <a:t>/</a:t>
            </a:r>
            <a:r>
              <a:rPr sz="1400" dirty="0" err="1"/>
              <a:t>HackerRank</a:t>
            </a:r>
            <a:r>
              <a:rPr sz="1400" dirty="0"/>
              <a:t> (Medium level questions)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407408"/>
            <a:ext cx="75895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595959"/>
                </a:solidFill>
              </a:defRPr>
            </a:pPr>
            <a:r>
              <a:rPr sz="1400"/>
              <a:t>✓ For system design: Draw architecture, discuss tradeoffs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EF0F10F-5670-26C3-C821-4879E3CDAE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3673" y="2623258"/>
            <a:ext cx="3226159" cy="3375887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5505033" cy="646331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defRPr sz="4000" b="1">
                <a:solidFill>
                  <a:srgbClr val="2E5090"/>
                </a:solidFill>
              </a:defRPr>
            </a:pPr>
            <a:r>
              <a:rPr sz="3600"/>
              <a:t>Interview Prep Timeline 📅</a:t>
            </a:r>
            <a:endParaRPr lang="en-US" sz="3600">
              <a:ea typeface="Calibri"/>
              <a:cs typeface="Calibri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45720"/>
          </a:xfrm>
          <a:prstGeom prst="rect">
            <a:avLst/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5038559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4472C4"/>
                </a:solidFill>
              </a:defRPr>
            </a:pPr>
            <a:r>
              <a:rPr sz="1600"/>
              <a:t>From Resume Submission to Job Offer (4-Week Timeline)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37360"/>
            <a:ext cx="663964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472C4"/>
                </a:solidFill>
              </a:defRPr>
            </a:pPr>
            <a:r>
              <a:rPr sz="1600"/>
              <a:t>Day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737360"/>
            <a:ext cx="5943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595959"/>
                </a:solidFill>
              </a:defRPr>
            </a:pPr>
            <a:r>
              <a:rPr sz="1600"/>
              <a:t>Submit resume on LinkedIn, job boards, company website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240280"/>
            <a:ext cx="830677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472C4"/>
                </a:solidFill>
              </a:defRPr>
            </a:pPr>
            <a:r>
              <a:rPr sz="1600"/>
              <a:t>Day 1-3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51760" y="2240280"/>
            <a:ext cx="5943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595959"/>
                </a:solidFill>
              </a:defRPr>
            </a:pPr>
            <a:r>
              <a:rPr sz="1600"/>
              <a:t>Recruiter screens resume (60-90 sec) → Call if interested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743200"/>
            <a:ext cx="830677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472C4"/>
                </a:solidFill>
              </a:defRPr>
            </a:pPr>
            <a:r>
              <a:rPr sz="1600"/>
              <a:t>Day 3-7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1760" y="2743200"/>
            <a:ext cx="5943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595959"/>
                </a:solidFill>
              </a:defRPr>
            </a:pPr>
            <a:r>
              <a:rPr sz="1600"/>
              <a:t>Phone screening (30 min) → Technical Q&amp;A about projects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246120"/>
            <a:ext cx="934871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472C4"/>
                </a:solidFill>
              </a:defRPr>
            </a:pPr>
            <a:r>
              <a:rPr sz="1600"/>
              <a:t>Day 7-14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51760" y="3246120"/>
            <a:ext cx="5943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595959"/>
                </a:solidFill>
              </a:defRPr>
            </a:pPr>
            <a:r>
              <a:rPr sz="1600"/>
              <a:t>Technical interview (60-90 min) → Coding + system design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749039"/>
            <a:ext cx="1039067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472C4"/>
                </a:solidFill>
              </a:defRPr>
            </a:pPr>
            <a:r>
              <a:rPr sz="1600"/>
              <a:t>Day 14-21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51760" y="3749039"/>
            <a:ext cx="5943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595959"/>
                </a:solidFill>
              </a:defRPr>
            </a:pPr>
            <a:r>
              <a:rPr sz="1600"/>
              <a:t>Onsite/Video rounds (2-3 rounds) → Meet the team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251959"/>
            <a:ext cx="1039067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472C4"/>
                </a:solidFill>
              </a:defRPr>
            </a:pPr>
            <a:r>
              <a:rPr sz="1600"/>
              <a:t>Day 21-28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51760" y="4251959"/>
            <a:ext cx="5943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595959"/>
                </a:solidFill>
              </a:defRPr>
            </a:pPr>
            <a:r>
              <a:rPr sz="1600"/>
              <a:t>Offer negotiation → Salary, benefits, joining date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50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3875" y="2286000"/>
            <a:ext cx="8076249" cy="707886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rPr sz="4000">
                <a:solidFill>
                  <a:schemeClr val="accent6">
                    <a:lumMod val="60000"/>
                    <a:lumOff val="40000"/>
                  </a:schemeClr>
                </a:solidFill>
              </a:rPr>
              <a:t>Ready to Transform Your Career? 🚀</a:t>
            </a:r>
            <a:endParaRPr lang="en-US" sz="4000">
              <a:solidFill>
                <a:schemeClr val="accent6">
                  <a:lumMod val="60000"/>
                  <a:lumOff val="40000"/>
                </a:schemeClr>
              </a:solidFill>
              <a:ea typeface="Calibri"/>
              <a:cs typeface="Calibr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529451" y="3565203"/>
            <a:ext cx="5857694" cy="1107996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 algn="ctr"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00B050"/>
                </a:solidFill>
              </a:rPr>
              <a:t>Start Today. 16 Weeks. Production-Ready Skills.</a:t>
            </a:r>
            <a:endParaRPr lang="en-US">
              <a:solidFill>
                <a:srgbClr val="00B050"/>
              </a:solidFill>
              <a:ea typeface="Calibri"/>
              <a:cs typeface="Calibri"/>
            </a:endParaRPr>
          </a:p>
          <a:p>
            <a:pPr>
              <a:defRPr sz="2200"/>
            </a:pPr>
            <a:endParaRPr lang="en-US" dirty="0">
              <a:solidFill>
                <a:srgbClr val="00B050"/>
              </a:solidFill>
            </a:endParaRPr>
          </a:p>
          <a:p>
            <a:pPr>
              <a:defRPr sz="2200"/>
            </a:pPr>
            <a:r>
              <a:rPr>
                <a:solidFill>
                  <a:srgbClr val="00B050"/>
                </a:solidFill>
              </a:rPr>
              <a:t>Let's Build Together!</a:t>
            </a:r>
            <a:endParaRPr>
              <a:solidFill>
                <a:srgbClr val="00B050"/>
              </a:solidFill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(4:3)</PresentationFormat>
  <Paragraphs>0</Paragraphs>
  <Slides>24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5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234</cp:revision>
  <dcterms:created xsi:type="dcterms:W3CDTF">2013-01-27T09:14:16Z</dcterms:created>
  <dcterms:modified xsi:type="dcterms:W3CDTF">2026-10-11T06:09:11Z</dcterms:modified>
  <cp:category/>
</cp:coreProperties>
</file>