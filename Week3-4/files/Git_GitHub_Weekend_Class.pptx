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Two days: Saturday is Git on your own machine, Sunday is working as a team on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 builds the single-person skills. Day 2 adds teamwork. Each day ends with a hands-on 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how do you track versions of your assignments today? Let them describe the pain before showing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confusion for freshers. Git is the tool; GitHub is a website that hosts Git repositories.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change through the row. Staging lets you pick exactly what goes into each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each one live in an empty folder before Demo 1. Students type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commit message is a note to your future self and your reviewer. Ask students to rewrite the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restore and reset --hard destroy uncommitted work. Revert is the safe choice for pushed commits.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git status before and after adding the file. Explain: ignoring only affects files not yet tracked.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each command, not just run the script. Use the script as the answer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loop is the daily routine of most teams. Show it once on a real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branch is a movable pointer to a commit, not a copy of the files. Draw this on the board while building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common team agreements, not Git features. Pick by team size and release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markers live (demos/day2_conflict.sh); students repeat it themselves in Demo 2. A conflict is Git asking you to decide, not an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 is where teaching happens: reviews are how freshers learn the team's habits.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three options on the merge button of a test PR, then compare git log --graph.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this live in the repo settings. Per GitHub docs, protected branches on a free account need a public repository. CI file is in the starter project: .github/workflows/ci.yml.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Starter files: README (tasks), .gitignore, src/clean.py, tests, CI workflow, PR template. Walk through the README tasks before teams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of these come from real beginner incidents; ask who has done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type the commands; the script is the answer key. Pause after the second merge and let them read the markers before explaining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student for one command they will use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prep: Pro Git chapters 1-3 before Day 1; GitHub flow and About pull requests before Day 2. Full URLs:
1) https://git-scm.com/book/en/v2
2) https://git-scm.com/docs/gitignore
3) https://learngitbranching.js.org/
4) https://docs.github.com/en/get-started/using-github/github-flow
5) https://docs.github.com/en/pull-requests/collaborating-with-pull-requests/proposing-changes-to-your-work-with-pull-requests/about-pull-requests
6) https://docs.github.com/en/repositories/configuring-branches-and-merges-in-your-repository/managing-protected-branches/about-protected-branches
7) https://docs.github.com/en/actions
8) https://nvie.com/posts/a-successful-git-branching-model/
9) https://trunkbaseddevelopment.com/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-scm.com/book/en/v2" TargetMode="External"/><Relationship Id="rId2" Type="http://schemas.openxmlformats.org/officeDocument/2006/relationships/hyperlink" Target="https://git-scm.com/docs/gitignore" TargetMode="External"/><Relationship Id="rId3" Type="http://schemas.openxmlformats.org/officeDocument/2006/relationships/hyperlink" Target="https://learngitbranching.js.org/" TargetMode="External"/><Relationship Id="rId4" Type="http://schemas.openxmlformats.org/officeDocument/2006/relationships/hyperlink" Target="https://docs.github.com/en/get-started/using-github/github-flow" TargetMode="External"/><Relationship Id="rId5" Type="http://schemas.openxmlformats.org/officeDocument/2006/relationships/hyperlink" Target="https://docs.github.com/en/pull-requests/collaborating-with-pull-requests/proposing-changes-to-your-work-with-pull-requests/about-pull-requests" TargetMode="External"/><Relationship Id="rId6" Type="http://schemas.openxmlformats.org/officeDocument/2006/relationships/hyperlink" Target="https://docs.github.com/en/repositories/configuring-branches-and-merges-in-your-repository/managing-protected-branches/about-protected-branches" TargetMode="External"/><Relationship Id="rId7" Type="http://schemas.openxmlformats.org/officeDocument/2006/relationships/hyperlink" Target="https://nvie.com/posts/a-successful-git-branching-model/" TargetMode="External"/><Relationship Id="rId8" Type="http://schemas.openxmlformats.org/officeDocument/2006/relationships/hyperlink" Target="https://trunkbaseddevelopment.com/" TargetMode="External"/><Relationship Id="rId9" Type="http://schemas.openxmlformats.org/officeDocument/2006/relationships/hyperlink" Target="https://docs.github.com/en/actions" TargetMode="Externa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Git &amp; GitHub for ML Projects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Fundamentals, GitHub workflow, branching strategies, pull requests and a team project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Weekend class: Day 1 (Saturday) and Day 2 (Sunday)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Day 1: Git fundamentals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Why version control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vs GitHub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 areas: working, staging, repository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Core commands and good commits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Undoing mistakes, .gitignore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1: Git basics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Day 2: GitHub and teamwork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GitHub workflow end to end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Branches and branching strategies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Merge conflicts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Pull requests and code 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Branch protection and CI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Project: team Git workflow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Demo 2: resolve a conflict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version control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26517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Without Git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Files like final_v2_new.py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record of who changed what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 people overwrite each other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Cannot return to the version that worked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Experiments mixed into working code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26517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With Git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change is a commit: author, date, message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any two versions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Go back to an earlier commit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 in parallel on branches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shared copy on a remote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In ML projects Git tracks code, configs and notebooks. Large data and model files stay out (other tools, e.g. DVC).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Git vs GitHub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Git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303520" y="137160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0" y="1371600"/>
            <a:ext cx="329184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GitHub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840480" y="1828800"/>
            <a:ext cx="1463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 flipH="1">
            <a:off x="3840480" y="2103120"/>
            <a:ext cx="1463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384048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push / pull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743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Version control tool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Runs on your computer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Works offline: commit, branch, log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27432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Website that hosts repositories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Adds pull requests, issues, reviews, Actions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Shared place for the team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Other hosts (GitLab, Bitbucket) work with the same Git commands.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Where your changes live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1691640" cy="1005840"/>
          </a:xfrm>
          <a:prstGeom prst="roundRect">
            <a:avLst>
              <a:gd name="adj" fmla="val 727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Working directory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Files you edit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40280" y="1874520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874520" y="1051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51760" y="1371600"/>
            <a:ext cx="1691640" cy="1005840"/>
          </a:xfrm>
          <a:prstGeom prst="roundRect">
            <a:avLst>
              <a:gd name="adj" fmla="val 727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5176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Staging area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65176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Next commit, prepared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874520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977640" y="1051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169164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75488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 repository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75488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Commits on your machine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46520" y="1874520"/>
            <a:ext cx="4114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6080760" y="1051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1371600"/>
            <a:ext cx="16916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GitHub (remote)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Shared copy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95260" y="2743200"/>
            <a:ext cx="0" cy="457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H="1">
            <a:off x="1394460" y="3200400"/>
            <a:ext cx="64008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1394460" y="2743200"/>
            <a:ext cx="0" cy="4572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5" name="Text 22"/>
          <p:cNvSpPr txBox="1"/>
          <p:nvPr/>
        </p:nvSpPr>
        <p:spPr>
          <a:xfrm>
            <a:off x="1645920" y="3291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git pull  (fetch + merge)   |   git clone copies a whole repository to start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git status shows which area each change is in. Use it often.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commands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0972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097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a repository in this folder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472184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47218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4721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Copy a repository with its full history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8470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18470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changed, what is staged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221992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2219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&lt;file&gt;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221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 a change for the next commit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596896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5968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"msg"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25968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Save the staged changes as a commit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2971800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297180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2971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unstaged changes line by line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346704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34670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023360" y="334670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commits, one per line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3721608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" y="37216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&lt;branch&gt;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023360" y="37216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to another branch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4096512"/>
            <a:ext cx="3291840" cy="32918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0080" y="40965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  /   git push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023360" y="40965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Get commits from / send commits to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Commits that help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2103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Weak messages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changes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final_v2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code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210312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Better messages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Fill missing monthly_charges with median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AUC and recall to evaluation output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Stop test rows leaking into training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One logical change per commit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Start with a verb; say what changed, add why when it is not obvious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Commit small and often: easy to review, easy to undo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Undoing things safely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91440" cy="548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1143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Edited a file, want the old version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3840480" y="1143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&lt;file&gt;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1430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Discards uncommitted edits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1801368"/>
            <a:ext cx="9144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013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Staged by mistake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840480" y="180136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restore --staged &lt;file&gt;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1801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Unstages, keeps your edits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459736"/>
            <a:ext cx="91440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245973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Typo in last commit message (not pushed)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4597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--amend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4597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Rewrites the last commit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118104"/>
            <a:ext cx="91440" cy="5486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31181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pushed commit was wrong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31181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revert &lt;commit&gt;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311810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New commit that undoes it; safe when shared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776472"/>
            <a:ext cx="91440" cy="5486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776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Throw away everything since last commit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840480" y="377647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492240" y="377647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Danger: edits are lost for good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.gitignore for ML projects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Data: too big, often private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Model files: rebuild or store elsewhere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Secrets (.env, keys): never in Git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Virtual envs, __pycache__, checkpoints, mlruns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If a secret is committed, rotate it: history keeps it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0600" y="12801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.gitignore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__pycache__/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.ipynb_checkpoints/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mlruns/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*.joblib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*.pkl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*.key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1: Git basics hands-on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Day 1  |  script: demos/day1_basics.sh  |  run line by line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Commit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Create a repo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git init, add, commit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Create a repo, stage README, make the first commit.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Ignore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Keep data out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gitignore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Add .gitignore and confirm data/ is not in git status.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Diff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Inspect a change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git diff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Edit a file and read the diff before staging.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Undo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Fix mistakes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restore, revert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Discard an edit with restore; undo a commit with revert.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git status after each step. git log --oneline ends with 4 commits, the last one a revert.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GitHub workflow end to end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75488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508760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1645920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719072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719072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Branch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79192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816352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889504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89504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Commit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849624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3986784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059936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059936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Push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20056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5157216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on GitHub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230368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0368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Pull request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190488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6327648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comments, approval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00800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00800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Review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360920" y="2194560"/>
            <a:ext cx="21031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7498080" y="1143000"/>
            <a:ext cx="1106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button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571232" y="1737360"/>
            <a:ext cx="960120" cy="914400"/>
          </a:xfrm>
          <a:prstGeom prst="roundRect">
            <a:avLst>
              <a:gd name="adj" fmla="val 8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71232" y="1737360"/>
            <a:ext cx="96012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Merge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880860" y="2651760"/>
            <a:ext cx="0" cy="6400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H="1">
            <a:off x="3369564" y="3291840"/>
            <a:ext cx="3511296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3369564" y="2651760"/>
            <a:ext cx="0" cy="64008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3552444" y="336499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Changes requested: commit again and push to the same branch. The pull request updates itself.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After merging: switch to main, git pull, delete the finished branch.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Branches: parallel lines of work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14400" y="1828800"/>
            <a:ext cx="12801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194560" y="1828800"/>
            <a:ext cx="23774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0" y="1828800"/>
            <a:ext cx="2011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194560" y="1828800"/>
            <a:ext cx="914400" cy="1188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3017520"/>
            <a:ext cx="12801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4389120" y="1828800"/>
            <a:ext cx="2194560" cy="11887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1645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011680" y="1645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73736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164592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1148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0" y="16459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merge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26080" y="28346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517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206240" y="283464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3192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1691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main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feature/clean-data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749040"/>
            <a:ext cx="8046720" cy="868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feature/clean-data    # create and move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main   &amp;&amp;   git merge feature/clean-data   # bring the work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-d feature/clean-data    # delete after merging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Branching strategies compared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2926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 Flow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long-lived branch: main. Short-lived feature branches, merged by pull request.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Suggested for: small teams and class projects.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2926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Flow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 plus develop, with feature, release and hotfix branches.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Suggested for: planned, versioned releases. More overhead.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29260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Trunk-based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Very small, frequent merges to main. Branches live hours, not days.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Suggested for: teams with strong automated tests and CI.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More people and releases means more structure. Start simple.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Merge conflicts: what and how to fix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Happens when two branches change the same lines.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git merge says CONFLICT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Open the file, find the markers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Edit to the final version, delete the markers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git add &lt;file&gt;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git commit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663440" y="1188720"/>
            <a:ext cx="3931920" cy="201168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060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&lt;&lt;&lt;&lt;&lt;&lt;&lt; 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RandomForestClassifier()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GradientBoostingClassifier()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&gt;&gt;&gt;&gt;&gt;&gt;&gt; feature/boosting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3291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Above ======= is your branch; below is the incoming branch. Keep one, or combine both.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Pull requests that get merged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 good pull request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and focused on one change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Clear title; description says what, why, how tested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Links the issue (Closes #12)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CI passing before asking for review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Results or screenshots when relevant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Good review habits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the description first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Comment on the code, not the person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 questions before assuming a mistake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only what you would maintain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Author pushes fixes to the same branch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Three ways to merge on GitHub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23774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Merge commit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Keeps every branch commit and adds one merge commit.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23774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Squash and merge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Combines all branch commits into one commit on main.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23774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Rebase and merge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Replays branch commits on top of main, no merge commit.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Choose one as a team and stay consistent. Squash keeps main readable when a branch has many small commits.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Protecting main and running CI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Branch protection on main: require a pull request, an approving review and passing checks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CI runs your tests on every pull request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GitHub Actions: a YAML file in .github/workflows/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 failing test blocks the merge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663440" y="1188720"/>
            <a:ext cx="3931920" cy="3108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00600" y="12801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pull_request: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actions/setup-python@v5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python-version: "3.11"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pip install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run: python -m pytest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Project: team Git workflow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Day 2  |  teams of 2-3  |  starter project provided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Setup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Repo on GitHub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main + protection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Push the starter to main, add teammates, protect main (public repo on a free account).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Branch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Your own work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feature/name-task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Make small commits and push your branch.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Review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Pull requests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PR template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a PR; review a teammate's PR; request one change.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Release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Merge and tag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5"/>
                </a:solidFill>
              </a:rPr>
              <a:t>conflict, tag v0.1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Resolve the planned README conflict, merge, tag v0.1.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Deliverables: repo link, 2+ merged PRs with review comments, one resolved conflict, tag v0.1, CI passing.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Common mistakes and good habits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Commit small and often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Easy to review and easy to undo.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Pull before you push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Avoid surprise conflicts.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514600" cy="7315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 force-push on shared branches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rewrites history others rely on.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8640" y="2926080"/>
            <a:ext cx="251460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secrets and data out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committed secret must be rotated.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33756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37560" y="2926080"/>
            <a:ext cx="2514600" cy="7315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52044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Name branches clearly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352044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feature/..., fix/... with a short topic.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2926080"/>
            <a:ext cx="2514600" cy="15544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2926080"/>
            <a:ext cx="2514600" cy="7315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09360" y="31089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 before committing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status and git diff every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Demo 2: resolve a merge conflict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Day 2  |  script: demos/day2_conflict.sh  |  run line by line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Branch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377440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4864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Two branches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git switch -c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From the same commit, create two branches that each change line 1 of train.py.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624328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24328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Merge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453128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2624328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First, then second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24328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15768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4"/>
                </a:solidFill>
              </a:rPr>
              <a:t>git merge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First merge fast-forwards. Second merge stops with CONFLICT.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00016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00016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Resolve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528816" y="1645920"/>
            <a:ext cx="246888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4700016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Read the markers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00016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1456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edit the 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Open train.py, find &lt;&lt;&lt;&lt;&lt;&lt;&lt;, choose the final line, delete the markers.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775704" y="132588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75704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Commit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775704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chemeClr val="accent5"/>
                </a:solidFill>
              </a:rPr>
              <a:t>Finish the merge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775704" y="2331720"/>
            <a:ext cx="1828800" cy="1417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67144" y="2377440"/>
            <a:ext cx="1645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git add, git commit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Stage the file, commit, then look at the branch graph.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39319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Watch for: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git status shows UU train.py during the conflict. git log --oneline --graph --all ends with two branches joined by a merge commit.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Recap and practice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39319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Day 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tracks history, GitHub shares it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Working, staging, repository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Small commits with clear messages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restore, revert, .gitignore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931920" cy="27432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3716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Day 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82880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Branch, push, pull request, review, merge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 a branching strategy that fits the team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Resolve conflicts calmly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Protect main, let CI check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Practice: redo both demos, then push your own project to GitHub through a pull request.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Preparation: reference links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188720"/>
            <a:ext cx="251460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188720"/>
            <a:ext cx="2514600" cy="7315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basics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288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 Git book (free)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git-scm.com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gitignore documentation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git-scm.com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 Git Branching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interactive practice, learngitbranching.js.org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51460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37560" y="1188720"/>
            <a:ext cx="2514600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20440" y="13716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1828800"/>
            <a:ext cx="2148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flow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docs.github.com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pull requests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docs.github.com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About protected branches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docs.github.com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188720"/>
            <a:ext cx="2468880" cy="310896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188720"/>
            <a:ext cx="2468880" cy="73152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093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Strategies and CI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828800"/>
            <a:ext cx="2103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 Flow: the original post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nvie.com, A successful Git branching model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Trunk Based Development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trunkbaseddevelopment.com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b="1" u="sng" dirty="0">
                <a:solidFill>
                  <a:schemeClr val="tx1"/>
                </a:solidFill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Actions docs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docs.github.com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Before Day 1: Pro Git chapters 1-3.   Before Day 2: GitHub flow and About pull requests.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LOps">
  <a:themeElements>
    <a:clrScheme name="MLOps">
      <a:dk1>
        <a:srgbClr val="1B1F2A"/>
      </a:dk1>
      <a:lt1>
        <a:srgbClr val="FFFFFF"/>
      </a:lt1>
      <a:dk2>
        <a:srgbClr val="12344D"/>
      </a:dk2>
      <a:lt2>
        <a:srgbClr val="F2F5F8"/>
      </a:lt2>
      <a:accent1>
        <a:srgbClr val="0F9D8A"/>
      </a:accent1>
      <a:accent2>
        <a:srgbClr val="2F6FDE"/>
      </a:accent2>
      <a:accent3>
        <a:srgbClr val="F5A623"/>
      </a:accent3>
      <a:accent4>
        <a:srgbClr val="E4572E"/>
      </a:accent4>
      <a:accent5>
        <a:srgbClr val="6B7A8F"/>
      </a:accent5>
      <a:accent6>
        <a:srgbClr val="8E5BD9"/>
      </a:accent6>
      <a:hlink>
        <a:srgbClr val="2F6FDE"/>
      </a:hlink>
      <a:folHlink>
        <a:srgbClr val="6B7A8F"/>
      </a:folHlink>
    </a:clrScheme>
    <a:fontScheme name="MLOp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2026-10-19T07:05:04Z</dcterms:created>
  <dcterms:modified xsi:type="dcterms:W3CDTF">2026-10-19T07:05:04Z</dcterms:modified>
</cp:coreProperties>
</file>