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Today's goal: understand what MLOps is, the ML lifecycle, and get your environment ready for the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MLOps = ML + DevOps + Data Engineering. Walk the Venn: each circle brings a discipline; the overlap is where production ML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then trace the feedback arrow: monitoring triggers new data and retraining. It is a loop, not a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running example. Ask students where each stage could break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is offline and batch; serving is online and latency-sensitive. They connect through the registry. Many failures happen at that handoff (training-serving skew).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box is automated. Tools are examples, not requirements; we will pick a stack in the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MLOps: manual handoffs, 'works on my machine', silent model decay. With MLOps: repeatable, observable, governed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cells 0 to 4 live. Pause after cell 2 and ask what the groupby tells us. In cell 3 stress that add_features() is shared with serving (training-serving skew). In cell 4 ask whether AUC 0.79 is good enough to ship, and what else we need to know. Next: we leave the model-building basics and move to ML debt, use cases and setup, then Demo 2 covers saving, serving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'Hidden Technical Debt in Machine Learning Systems' (Sculley et al., NeurIPS 2015). The model code is a small box; the surrounding system is where debt accumulates. Ask: which of these exist in your current projects?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Debt is cheap to take on and expensive to repay. MLOps practices are how we pay it down continuously.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run online, so latency, A/B testing and quality monitoring matter most. Ask: what happens if the model is wrong for a week?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deployment shapes: scheduled batch, edge devices, and regulated domains with human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scenarios, common in practice. Ask students if they have seen any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complete this checklist before the first lab. Verify with the smoke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in the same notebook session: cells 5 to 7 reuse the model trained in Demo 1. Cell 5 is the training to deployment handoff. Cell 6 shows drift, which is the arrow back to retraining on the lifecycle slide. Cell 7 is optional; skip it if MLflow is not installed. Close with the homework: run the environment smoke test and bring the output to Class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MLOps Fundamentals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Class 1: From notebooks to production ML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What is MLOps  •  ML lifecycle  •  Training vs deployment  •  Why it matters  •  Environment setup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is MLOps?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051560"/>
            <a:ext cx="2011680" cy="2011680"/>
          </a:xfrm>
          <a:prstGeom prst="ellipse">
            <a:avLst/>
          </a:prstGeom>
          <a:solidFill>
            <a:schemeClr val="accent2">
              <a:alpha val="4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20240" y="105156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80160" y="2194560"/>
            <a:ext cx="2011680" cy="2011680"/>
          </a:xfrm>
          <a:prstGeom prst="ellipse">
            <a:avLst/>
          </a:prstGeom>
          <a:solidFill>
            <a:schemeClr val="accent3">
              <a:alpha val="45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DevOps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Eng.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MLOps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109728" cy="594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14813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Models, experiments, evaluation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1965960"/>
            <a:ext cx="109728" cy="594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DevOps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22585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CI/CD, containers, infra as code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2743200"/>
            <a:ext cx="109728" cy="594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Eng.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0" y="303580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Pipelines, data quality, versioning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3520440"/>
            <a:ext cx="109728" cy="5943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MLOps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381304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Reliable, repeatable ML in production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Core ideas: automation  •  reproducibility  •  monitoring  •  collaboration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ML lifecycle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300984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Experimentation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059936" y="1188720"/>
            <a:ext cx="2130552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059936" y="12801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188720"/>
            <a:ext cx="2130552" cy="5486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2801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Problem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definition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08760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1719072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19072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collection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79192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889504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889504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prep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features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849624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059936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59936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training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0056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230368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30368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90488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400800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60920" y="224028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571232" y="1737360"/>
            <a:ext cx="960120" cy="100584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71232" y="1737360"/>
            <a:ext cx="96012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051292" y="2743200"/>
            <a:ext cx="0" cy="6400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2199132" y="3383280"/>
            <a:ext cx="58521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2199132" y="2743200"/>
            <a:ext cx="0" cy="6400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2382012" y="3456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Feedback loop: drift or new data triggers retraining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Example: churn prediction through the lifecycle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55448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Problem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1430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Predict which subscribers cancel in 30 days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155448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6002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Usage logs + billing + support tickets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155448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Features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86000" y="20574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Logins/week, plan type, tickets last 30d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15544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25146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Gradient boosting, tracked in MLflow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15544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971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286000" y="29718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Recall at top 10% risk, vs last model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1554480" cy="3840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286000" y="34290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Nightly batch scores into the CRM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1554480" cy="3840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38862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Feature drift, recall once churn is known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 training vs deployment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TRAINING  (offline, batch, GPU-heavy, goal: best metric)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74520" y="18288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9456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9456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Features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20440" y="18288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4048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4048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Train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66360" y="18288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48640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Evaluate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12280" y="18288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132320" y="14630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14630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Register model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DEPLOYMENT  (online, 24/7, goal: latency, uptime, cost)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Load model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874520" y="3657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19456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9456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Package (Docker)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520440" y="3657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84048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84048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 (K8s)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166360" y="3657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48640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Predict API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812280" y="3657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132320" y="329184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3232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Monitor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795260" y="237744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1211580" y="2651760"/>
            <a:ext cx="6583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211580" y="2651760"/>
            <a:ext cx="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329184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model artifact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Watch for training-serving skew: features computed differently offline vs online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MLOps pipeline: end-to-end view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Code &amp; data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Git, DVC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459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9202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202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Tests, lint, build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75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918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918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MLflow, Kubeflow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6634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Registry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Versioned models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0350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350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Docker, K8s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32320" y="19202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06640" y="1463040"/>
            <a:ext cx="109728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06640" y="1463040"/>
            <a:ext cx="109728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Drift, latency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955280" y="2377440"/>
            <a:ext cx="0" cy="9144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>
            <a:off x="3840480" y="3291840"/>
            <a:ext cx="41148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3840480" y="2377440"/>
            <a:ext cx="0" cy="9144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402336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Alert / drift detected: trigger retraining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MLOps matters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5146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Reproducibility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code + data + config gives the same model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146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Speed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pipelines cut idea-to-production time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188720"/>
            <a:ext cx="25146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Reliability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Tested, versioned, rollback-ready releases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926080"/>
            <a:ext cx="251460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Monitoring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Catch data drift and model decay early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33756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7560" y="2926080"/>
            <a:ext cx="25146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2044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Scale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Manage many models and teams consistently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2648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2926080"/>
            <a:ext cx="251460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Governance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Lineage, audit trail, compliance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1: data to a trained model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Notebook cells 1-4  |  about 10 minutes  |  NumPy, pandas, scikit-learn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Stage: data collection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NumPy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Seeded generator makes results reproducible. Missing values and duplicates added on purpose.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4328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Explore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53128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243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Stage: exploration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pandas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head, describe, isna, groupby. Check missing values, duplicates and churn by plan.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Prep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28816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00016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Stage: data prep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0016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scikit-learn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Pipeline: impute, scale, encode. One add_features() shared by training and serving.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75704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75704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Stage: training + evaluation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75704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67144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scikit-learn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Logistic regression vs gradient boosting, judged by AUC and recall in the top 10% risk.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Watch for: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churn rate 30%, 91 missing monthly_charges, 26 duplicates, basic plan churns most (35%). Logistic regression wins: AUC 0.79 vs 0.77.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ML technical debt: the hidden iceberg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9184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29184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Feature extraction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14300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verification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Configuration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242316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2336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ML code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224028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224028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Serving infrastructure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3375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291840" y="33375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9184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Process management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3337560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35040" y="333756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Machine resource mgmt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The model is a small part of the system. Everything around it needs engineering, and unmanaged it becomes debt.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Types of ML debt and how MLOps pays it down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097280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Data dependency debt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971800" y="10972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Unstable or undocumented input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1353312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943600" y="1097280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097280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Data versioning + validation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700784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700784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Entanglement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17007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Change one feature, everything shifts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0" y="1956816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943600" y="1700784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1700784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Modular pipelines, ablation tests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304288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304288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Feedback loops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971800" y="23042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output influences its own training data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669280" y="25603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943600" y="2304288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0" y="2304288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Monitoring, holdout groups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2907792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2907792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Pipeline jungles, glue code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971800" y="290779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 hoc scripts stitched together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0" y="316382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943600" y="2907792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0" y="2907792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Orchestrated, standard pipelines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511296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3511296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Config and dead code debt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971800" y="35112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Untracked settings, abandoned experiments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69280" y="3767328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943600" y="3511296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43600" y="3511296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Config mgmt, experiment tracking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4114800"/>
            <a:ext cx="2286000" cy="512064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48640" y="4114800"/>
            <a:ext cx="228600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Undeclared consumers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971800" y="411480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Others silently depend on your outputs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669280" y="4370832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943600" y="4114800"/>
            <a:ext cx="2651760" cy="512064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943600" y="4114800"/>
            <a:ext cx="2651760" cy="5120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Model registry, clear contracts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 cases: real-time serving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91440" cy="1005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430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Fraud detection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28600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Card transaction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79476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Scoring model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30352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Approve or block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3796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812280" y="123444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Latency under 100 ms; retrain as fraud patterns shift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2331720"/>
            <a:ext cx="91440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23317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Recommendations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28600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8600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 activity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2044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79476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9476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Ranking model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30352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Personalized feed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3796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812280" y="242316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0372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A/B test model versions; frequent retraining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3520440"/>
            <a:ext cx="91440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520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LLM / RAG assistant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28600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28600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User question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52044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79476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79476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Retrieve + LLM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2920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30352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30352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Grounded answer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53796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812280" y="361188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03720" y="3611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Version prompts and index; eval quality; track cost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 cases: batch, edge and regulated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91440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4300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Equipment health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28600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Sensor data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79476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Failure model (edge)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303520" y="128016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128016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Maintenance alert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37960" y="164592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812280" y="123444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Edge deployment; drift as machines age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2331720"/>
            <a:ext cx="91440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233172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Demand forecasting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28600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8600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Sales history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2044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79476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9476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Forecast model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303520" y="246888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0" y="246888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Stock plan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37960" y="283464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812280" y="242316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03720" y="2423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Scheduled batch pipelines; seasonality checks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3520440"/>
            <a:ext cx="91440" cy="1005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520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Medical image triage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28600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28600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Scan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52044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379476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79476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Detection model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2920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303520" y="365760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303520" y="3657600"/>
            <a:ext cx="12344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Radiologist review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537960" y="4023360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6812280" y="3611880"/>
            <a:ext cx="178308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03720" y="36118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MLOps focus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Strict validation, audit trail, human in the loop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goes wrong without MLOps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Silent decay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1143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accuracy drops for months as customer behaviour changes; nobody notices until revenue falls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143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Fix: monitoring + drift alerts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Works on my laptop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1965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Notebook results cannot be reproduced; library versions differ in production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Fix: versioned code, data, environments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788920"/>
            <a:ext cx="8046720" cy="731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88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Training-serving skew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788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feature is computed differently in the pipeline and the live API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Fix: shared feature logic / feature store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Manual releases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560320" y="3611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handed over by email, weeks to deploy, no rollback plan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Fix: CI/CD + model registry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Environment setup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Install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3.10+ and pip / conda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 + GitHub account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Docker Desktop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VS Code or JupyterLab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Free-tier cloud account (AWS / Azure / GCP)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Smoke test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7830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scikit-learn mlflow pandas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 --version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Homework: run the smoke test and bring your output to Class 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2: from a model to MLOps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Notebook cells 5-7  |  about 10 minutes  |  joblib, SciPy, MLflow (optional)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Save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Stage: deployment handoff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joblib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Prep + model saved as one versioned artifact: churn_model_v1.joblib.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4328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Serve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53128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243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Stage: deployment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Python function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predict_churn() loads the model and scores one customer: a tiny prediction API.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Monitor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28816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00016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Stage: monitoring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0016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SciPy KS test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Compares live data with training data, feature by feature, to catch drift.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75704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Track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75704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Stage: experiment tracking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75704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67144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MLflow (optional)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Logs model name, AUC and recall to ./mlruns. Preview of a later class.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Watch for: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risky customer scores 0.95, loyal customer 0.02. Only logins_per_week is flagged as drift (the one we shifted). Then ask: auto-retrain or human decision?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LOps">
  <a:themeElements>
    <a:clrScheme name="MLOps">
      <a:dk1>
        <a:srgbClr val="1B1F2A"/>
      </a:dk1>
      <a:lt1>
        <a:srgbClr val="FFFFFF"/>
      </a:lt1>
      <a:dk2>
        <a:srgbClr val="12344D"/>
      </a:dk2>
      <a:lt2>
        <a:srgbClr val="F2F5F8"/>
      </a:lt2>
      <a:accent1>
        <a:srgbClr val="0F9D8A"/>
      </a:accent1>
      <a:accent2>
        <a:srgbClr val="2F6FDE"/>
      </a:accent2>
      <a:accent3>
        <a:srgbClr val="F5A623"/>
      </a:accent3>
      <a:accent4>
        <a:srgbClr val="E4572E"/>
      </a:accent4>
      <a:accent5>
        <a:srgbClr val="6B7A8F"/>
      </a:accent5>
      <a:accent6>
        <a:srgbClr val="8E5BD9"/>
      </a:accent6>
      <a:hlink>
        <a:srgbClr val="2F6FDE"/>
      </a:hlink>
      <a:folHlink>
        <a:srgbClr val="6B7A8F"/>
      </a:folHlink>
    </a:clrScheme>
    <a:fontScheme name="ML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2026-10-17T05:42:33Z</dcterms:created>
  <dcterms:modified xsi:type="dcterms:W3CDTF">2026-10-17T05:42:34Z</dcterms:modified>
</cp:coreProperties>
</file>