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Today's goal: understand what MLOps is, the ML lifecycle, and get your environment ready for the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MLOps = ML + DevOps + Data Engineering. Walk the Venn: each circle brings a discipline; the overlap is where production ML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then trace the feedback arrow: monitoring triggers new data and retraining. It is a loop, not a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one running example. Ask students where each stage could break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is offline and batch; serving is online and latency-sensitive. They connect through the registry. Many failures happen at that handoff (training-serving skew).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box is automated. Tools are examples, not requirements; we will pick a stack in the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MLOps: manual handoffs, 'works on my machine', silent model decay. With MLOps: repeatable, observable, governed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'Hidden Technical Debt in Machine Learning Systems' (Sculley et al., NeurIPS 2015). The model code is a small box; the surrounding system is where debt accumulates. Ask: which of these exist in your current projects?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Debt is cheap to take on and expensive to repay. MLOps practices are how we pay it down continuously.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run online, so latency, A/B testing and quality monitoring matter most. Ask: what happens if the model is wrong for a week?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deployment shapes: scheduled batch, edge devices, and regulated domains with human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scenarios, common in practice. Ask students if they have seen any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complete this checklist before the first lab. Verify with the smoke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MLOps Fundamentals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Class 1: From notebooks to production ML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What is MLOps  •  ML lifecycle  •  Training vs deployment  •  Why it matters  •  Environment setup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is MLOps?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051560"/>
            <a:ext cx="2011680" cy="2011680"/>
          </a:xfrm>
          <a:prstGeom prst="ellipse">
            <a:avLst/>
          </a:prstGeom>
          <a:solidFill>
            <a:schemeClr val="accent2">
              <a:alpha val="45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920240" y="105156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80160" y="2194560"/>
            <a:ext cx="2011680" cy="2011680"/>
          </a:xfrm>
          <a:prstGeom prst="ellipse">
            <a:avLst/>
          </a:prstGeom>
          <a:solidFill>
            <a:schemeClr val="accent3">
              <a:alpha val="45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DevOps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Eng.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MLOps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109728" cy="594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ML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148132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Models, experiments, evaluation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1965960"/>
            <a:ext cx="109728" cy="594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DevOps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22585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CI/CD, containers, infra as code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2743200"/>
            <a:ext cx="109728" cy="5943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Eng.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0" y="303580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Pipelines, data quality, versioning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54880" y="3520440"/>
            <a:ext cx="109728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MLOps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0" y="381304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Reliable, repeatable ML in production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ideas: automation  •  reproducibility  •  monitoring  •  collaboration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ML lifecycle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300984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Experimentation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59936" y="1188720"/>
            <a:ext cx="2130552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059936" y="128016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Development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1188720"/>
            <a:ext cx="2130552" cy="5486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28016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Production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Problem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definition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508760" y="224028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719072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19072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collection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79192" y="224028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889504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889504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 prep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features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849624" y="224028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059936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59936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training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0056" y="224028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230368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230368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90488" y="224028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400800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360920" y="224028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571232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71232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Monitoring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051292" y="2743200"/>
            <a:ext cx="0" cy="6400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H="1">
            <a:off x="2199132" y="3383280"/>
            <a:ext cx="58521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2199132" y="2743200"/>
            <a:ext cx="0" cy="6400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2382012" y="3456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Feedback loop: drift or new data triggers retraining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Example: churn prediction through the lifecycle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55448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Problem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286000" y="11430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Predict which subscribers cancel in 30 days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55448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16002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Usage logs + billing + support tickets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155448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Features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20574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Logins/week, plan type, tickets last 30d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514600"/>
            <a:ext cx="15544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514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Training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25146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Gradient boosting, tracked in MLflow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2971800"/>
            <a:ext cx="15544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2971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286000" y="29718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Recall at top 10% risk, vs last model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429000"/>
            <a:ext cx="1554480" cy="3840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286000" y="34290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Nightly batch scores into the CRM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1554480" cy="3840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886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286000" y="38862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Feature drift, recall once churn is known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Model training vs deployment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TRAINING  (offline, batch, GPU-heavy, goal: best metric)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74520" y="18288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194560" y="14630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94560" y="14630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Features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20440" y="18288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40480" y="14630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40480" y="14630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Train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66360" y="18288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486400" y="14630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0" y="14630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Evaluate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12280" y="18288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132320" y="14630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14630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Register model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DEPLOYMENT  (online, 24/7, goal: latency, uptime, cost)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2918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2918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Load model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874520" y="36576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194560" y="32918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94560" y="32918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Package (Docker)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520440" y="36576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840480" y="32918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840480" y="32918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 (K8s)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166360" y="36576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486400" y="32918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0" y="32918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Predict API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812280" y="36576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132320" y="32918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132320" y="32918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Monitor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795260" y="237744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H="1">
            <a:off x="1211580" y="2651760"/>
            <a:ext cx="65836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211580" y="2651760"/>
            <a:ext cx="0" cy="6400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329184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model artifact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Watch for training-serving skew: features computed differently offline vs online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MLOps pipeline: end-to-end view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Code &amp; data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Git, DVC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45920" y="19202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9202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202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CI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Tests, lint, build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17520" y="19202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2918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918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Train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MLflow, Kubeflow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19202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6634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Registry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Versioned models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60720" y="19202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0350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350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Docker, K8s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32320" y="19202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4066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066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Monitor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Drift, latency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955280" y="2377440"/>
            <a:ext cx="0" cy="9144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>
            <a:off x="3840480" y="3291840"/>
            <a:ext cx="411480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3840480" y="2377440"/>
            <a:ext cx="0" cy="9144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402336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Alert / drift detected: trigger retraining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Why MLOps matters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251460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Reproducibility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code + data + config gives the same model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37560" y="1188720"/>
            <a:ext cx="251460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Speed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pipelines cut idea-to-production time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1188720"/>
            <a:ext cx="251460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Reliability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Tested, versioned, rollback-ready releases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926080"/>
            <a:ext cx="2514600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Catch data drift and model decay early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33756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37560" y="2926080"/>
            <a:ext cx="251460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2044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Scale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52044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Manage many models and teams consistently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2648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2926080"/>
            <a:ext cx="2514600" cy="731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Governance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Lineage, audit trail, compliance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ML technical debt: the hidden iceberg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91840" y="114300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29184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Feature extraction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0" y="114300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3504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verification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24028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24028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Configuration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23360" y="2423160"/>
            <a:ext cx="109728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23360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ML code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35040" y="224028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224028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Serving infrastructure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33756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291840" y="333756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Process management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333756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35040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Machine resource mgmt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The model is a small part of the system. Everything around it needs engineering, and unmanaged it becomes debt.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Types of ML debt and how MLOps pays it down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2286000" cy="512064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97280"/>
            <a:ext cx="22860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Data dependency debt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2971800" y="10972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Unstable or undocumented input 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0" y="1353312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943600" y="1097280"/>
            <a:ext cx="265176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1097280"/>
            <a:ext cx="26517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Data versioning + validation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700784"/>
            <a:ext cx="2286000" cy="512064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700784"/>
            <a:ext cx="22860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Entanglement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971800" y="17007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Change one feature, everything shifts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0" y="1956816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943600" y="1700784"/>
            <a:ext cx="265176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1700784"/>
            <a:ext cx="26517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Modular pipelines, ablation tests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304288"/>
            <a:ext cx="2286000" cy="512064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2304288"/>
            <a:ext cx="22860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Feedback loops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971800" y="230428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output influences its own training data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0" y="25603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943600" y="2304288"/>
            <a:ext cx="265176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0" y="2304288"/>
            <a:ext cx="26517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Monitoring, holdout groups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2907792"/>
            <a:ext cx="2286000" cy="512064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2907792"/>
            <a:ext cx="22860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Pipeline jungles, glue code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971800" y="29077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 hoc scripts stitched together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0" y="316382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943600" y="2907792"/>
            <a:ext cx="265176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43600" y="2907792"/>
            <a:ext cx="26517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Orchestrated, standard pipelines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3511296"/>
            <a:ext cx="2286000" cy="512064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3511296"/>
            <a:ext cx="22860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Config and dead code debt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2971800" y="35112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Untracked settings, abandoned experiments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669280" y="3767328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5943600" y="3511296"/>
            <a:ext cx="265176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43600" y="3511296"/>
            <a:ext cx="26517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Config mgmt, experiment tracking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4114800"/>
            <a:ext cx="2286000" cy="512064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48640" y="4114800"/>
            <a:ext cx="22860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Undeclared consumers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2971800" y="411480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Others silently depend on your outputs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669280" y="4370832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5943600" y="4114800"/>
            <a:ext cx="265176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943600" y="4114800"/>
            <a:ext cx="26517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Model registry, clear contracts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 cases: real-time serving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91440" cy="1005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430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Fraud detection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28600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8600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Card transaction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16459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79476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476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Scoring model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16459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30352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Approve or block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37960" y="16459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812280" y="1234440"/>
            <a:ext cx="17830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1234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MLOps focus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Latency under 100 ms; retrain as fraud patterns shift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2331720"/>
            <a:ext cx="91440" cy="1005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23317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Recommendations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286000" y="24688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286000" y="246888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User activity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520440" y="28346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794760" y="24688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94760" y="246888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Ranking model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0" y="28346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303520" y="24688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03520" y="246888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Personalized feed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537960" y="28346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812280" y="2423160"/>
            <a:ext cx="17830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03720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MLOps focus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A/B test model versions; frequent retraining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3520440"/>
            <a:ext cx="91440" cy="10058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3520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LLM / RAG assistant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286000" y="365760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28600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User question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520440" y="40233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3794760" y="365760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79476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Retrieve + LLM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029200" y="40233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5303520" y="365760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30352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Grounded answer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537960" y="40233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6812280" y="3611880"/>
            <a:ext cx="17830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903720" y="3611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MLOps focus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Version prompts and index; eval quality; track cost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 cases: batch, edge and regulated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91440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430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Equipment health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28600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8600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Sensor data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16459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79476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476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Failure model (edge)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16459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30352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Maintenance alert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37960" y="16459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812280" y="1234440"/>
            <a:ext cx="17830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1234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MLOps focus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Edge deployment; drift as machines age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2331720"/>
            <a:ext cx="91440" cy="1005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23317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Demand forecasting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286000" y="24688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286000" y="246888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Sales history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520440" y="28346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794760" y="24688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94760" y="246888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Forecast model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0" y="28346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303520" y="24688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03520" y="246888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Stock plan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537960" y="28346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812280" y="2423160"/>
            <a:ext cx="17830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03720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MLOps focus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Scheduled batch pipelines; seasonality checks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3520440"/>
            <a:ext cx="91440" cy="10058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3520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Medical image triage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286000" y="365760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28600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Scan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520440" y="40233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3794760" y="365760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79476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Detection model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029200" y="40233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5303520" y="365760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30352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Radiologist review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537960" y="40233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6812280" y="3611880"/>
            <a:ext cx="17830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903720" y="3611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MLOps focus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Strict validation, audit trail, human in the loop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goes wrong without MLOps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Silent decay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1143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accuracy drops for months as customer behaviour changes; nobody notices until revenue falls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1430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Fix: monitoring + drift alerts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Works on my laptop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1965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Notebook results cannot be reproduced; library versions differ in production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Fix: versioned code, data, environments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788920"/>
            <a:ext cx="8046720" cy="7315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788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Training-serving skew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2788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feature is computed differently in the pipeline and the live API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Fix: shared feature logic / feature store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611880"/>
            <a:ext cx="8046720" cy="7315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Manual releases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560320" y="3611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handed over by email, weeks to deploy, no rollback plan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Fix: CI/CD + model registry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Environment setup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931920" cy="2743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393192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Install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 3.10+ and pip / conda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 + GitHub account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Docker Desktop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VS Code or JupyterLab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Free-tier cloud account (AWS / Azure / GCP)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Smoke test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7830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scikit-learn mlflow pandas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 --version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hello-world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Homework: run the smoke test and bring your output to Class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LOps">
  <a:themeElements>
    <a:clrScheme name="MLOps">
      <a:dk1>
        <a:srgbClr val="1B1F2A"/>
      </a:dk1>
      <a:lt1>
        <a:srgbClr val="FFFFFF"/>
      </a:lt1>
      <a:dk2>
        <a:srgbClr val="12344D"/>
      </a:dk2>
      <a:lt2>
        <a:srgbClr val="F2F5F8"/>
      </a:lt2>
      <a:accent1>
        <a:srgbClr val="0F9D8A"/>
      </a:accent1>
      <a:accent2>
        <a:srgbClr val="2F6FDE"/>
      </a:accent2>
      <a:accent3>
        <a:srgbClr val="F5A623"/>
      </a:accent3>
      <a:accent4>
        <a:srgbClr val="E4572E"/>
      </a:accent4>
      <a:accent5>
        <a:srgbClr val="6B7A8F"/>
      </a:accent5>
      <a:accent6>
        <a:srgbClr val="8E5BD9"/>
      </a:accent6>
      <a:hlink>
        <a:srgbClr val="2F6FDE"/>
      </a:hlink>
      <a:folHlink>
        <a:srgbClr val="6B7A8F"/>
      </a:folHlink>
    </a:clrScheme>
    <a:fontScheme name="MLOp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2026-10-15T17:02:30Z</dcterms:created>
  <dcterms:modified xsi:type="dcterms:W3CDTF">2026-10-15T17:02:30Z</dcterms:modified>
</cp:coreProperties>
</file>